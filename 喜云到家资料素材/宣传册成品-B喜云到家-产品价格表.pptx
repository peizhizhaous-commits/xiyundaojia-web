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9" r:id="rId2"/>
    <p:sldId id="260" r:id="rId3"/>
    <p:sldId id="256" r:id="rId4"/>
    <p:sldId id="257" r:id="rId5"/>
    <p:sldId id="258" r:id="rId6"/>
    <p:sldId id="293" r:id="rId7"/>
    <p:sldId id="272" r:id="rId8"/>
    <p:sldId id="274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0" autoAdjust="0"/>
    <p:restoredTop sz="94660"/>
  </p:normalViewPr>
  <p:slideViewPr>
    <p:cSldViewPr snapToGrid="0">
      <p:cViewPr varScale="1">
        <p:scale>
          <a:sx n="175" d="100"/>
          <a:sy n="175" d="100"/>
        </p:scale>
        <p:origin x="130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ADD80-3258-40AD-BD27-67064756B4AC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157A5-89CF-4641-A252-10D81D6718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24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我们的产品体系主要分为四大板块：保洁清洗类、照料陪护类、家庭事务类和支援服务类。从日常清洁到母婴护理，从保姆服务到临时帮厨，我们致力于为您提供一站式的家庭服务解决方案。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F183E-3C1C-687B-1C0D-BA5C728F8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535CCC-6532-C924-8F36-74FADE9310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334237-AEC0-9B32-731F-88F3611F222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CA4FFD0-C77D-144B-E789-7F67D85430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3696FE2-CDEA-47DB-4A4D-D69A61ED0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这一页是我们所有服务的速查对照表，方便您快速了解各项服务的定位和差异。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日常保洁和精细保洁，主要用于日常维持，区别在于精细保洁更灵活，可以自选重点区域。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深度保洁和全屋大扫除，都是用于彻底翻新，深度保洁更侧重于解决死角和重污，而全屋大扫除则是在日常居住状态下进行一次彻底的翻新。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粗开荒和精细开荒，是针对装修后的服务，粗开荒负责清理大面，精细开荒负责细节精护，直到拎包入住标准。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希望这个对照表能帮助您快速找到最适合自己的服务。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4910A-B1C6-1278-24D7-F2788F73777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D204D-FFD7-B117-1BDD-134E2EF4E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85487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大家好，欢迎了解喜云到家的保洁服务。今天我们用一页内容，帮您清晰地了解日常保洁和深度保洁的区别。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简单来说，选择标准很简单：每周都扫选日常，好久没扫选深度。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日常保洁每小时49.9元，适合家里平时保持得不错，只想维持现状的情况。自己动手的话，周末半天就没了。交给我们，您就能多出半天时间好好休息或陪家人。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深度保洁每小时65元，适合家里好久没扫，想彻底大扫除的情况。自己动手不仅累，有些活还干不了。交给我们，用专业工具和手法，帮您把所有死角都搞定。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最后，我们给您一个简单的建议：如果您家平时爱干净，保持得不错，选日常保洁就够了。如果您觉得家里需要一次彻底的打扫，那就选深度保洁。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大家好，今天我们来聊聊装修后的开荒保洁，主要有两种：粗开荒和精细开荒。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简单来说，选择标准是：装修刚完工选粗开荒，入住前选精细开荒。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粗开荒每平米12元，主要负责清理装修后的建筑垃圾、表面灰尘、漆点和水泥印。适合刚完工、准备进家具的阶段。自己动手不仅累，还容易刮花地面。交给我们，用专业工具一次性清干净。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精细开荒每平米18元，是在粗开荒的基础上，进行深度精饰，包括清理缝隙、抛光五金件、高温消毒等。适合对洁净度要求高，想直接拎包入住的客户。自己动手很难达到专业效果。交给我们，给您一个交付即入住的标准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最后，我们给您一个简单的建议：如果您刚完工，先选粗开荒。如果您想一步到位直接入住，那就选精细开荒。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大家好，今天我们来聊聊日常居住中的两种保洁服务：精细保洁和全屋大扫除。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简单来说，选择标准是：定期维持选精细保洁，彻底翻新选全屋大扫除。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精细保洁每平米3.5元或每小时39.9元，适合定期打扫、维持状态的客户。自己动手每周都要耗半天。交给我们，每周不到40元，就能把周末还给您。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全屋大扫除每平米6.4元或每小时59.9元，适合很久没彻底打扫、想翻新的客户。自己动手不仅累，死角还弄不干净。交给我们，专业工具一次性搞定所有死角。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最后，我们给您一个简单的建议：如果您想定期维持，选精细保洁。如果您想彻底翻新，选全屋大扫除。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大家好，今天我们来聊聊油烟机和灶台的清洗服务。主要有两种选择：不拆洗和拆洗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简单来说，选择标准是：轻度油污选不拆洗，重度油污选拆洗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不拆洗主要针对表面清洁，适合轻度油污和日常维护。价格分别是油烟机不拆洗128元，灶台不拆洗88元，联合清洗更优惠。自己动手麻烦又低效，交给我们省时省力。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拆洗则是深度清洁，适合重度油污和长期未清洗的情况。价格分别是油烟机拆洗298元，灶台拆洗158元，联合清洗同样更优惠。自己动手根本洗不干净，交给我们深度拆洗，焕然一新。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最后，我们给您一个简单的建议：轻度油污、日常维护选不拆洗；重度油污、长期未洗选拆洗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对于需要专业陪护的家庭，我们提供居家养老陪护和病患康复陪护服务。养老陪护不仅提供日常照料，还会建立健康日志，让子女远程安心。病患陪护则提供专业的护理和心理疏导，帮助患者更快康复。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我们的保姆服务提供住家、白班和专职做饭阿姨等多种选择，能够全方位处理家庭事务。而钟点工服务则更加灵活，适合处理临时的保洁、做饭等专项需求，性价比非常高。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8AF7E1-0C85-9500-CC3B-8F9739896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661E16-3DE7-F81D-2048-86CD61DF5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445F6D-8947-4AF1-4AF7-614DBE5B9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0C44-2511-48EC-9379-AF3DA0804D6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E5DD63-A82A-B83B-CA27-6FA886025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036D2E-C215-8F2B-74DB-BA8702E48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E103-93A9-4988-8A2A-197880A94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967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DEFC86-45B3-98AF-D550-7A694F7D2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3D4FD3-2616-AEA7-480F-358D94695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1E2785-3224-ED31-AB9B-6CA07A64C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0C44-2511-48EC-9379-AF3DA0804D6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4BD850-3A85-3F25-DC1C-C1DEE6146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89A6ED-7007-48F8-2938-AA14E7199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E103-93A9-4988-8A2A-197880A94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344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75933C-B20B-91CE-05F7-F91212280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721282-C996-C3A8-5CF2-D749A2C94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A8CF56-5F99-F8CE-D199-70368D6E6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0C44-2511-48EC-9379-AF3DA0804D6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F6EC3A-EF5B-D510-1343-871638ABB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DB858A-7E40-6F11-8FDA-67FC1E6BC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E103-93A9-4988-8A2A-197880A94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693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BDC11F-ACFC-0B82-AA15-83DE57D1F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AA3A28-8C8C-794C-95F0-11E2C8E3C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3C3671-52C3-EC85-F7B3-818D5BEBC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68A4A1-6798-D9B8-768E-F6C197024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0C44-2511-48EC-9379-AF3DA0804D6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0A3FAB-12B6-D097-2001-CE70266A0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3C2D81-99F4-F8D3-B21F-6085F570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E103-93A9-4988-8A2A-197880A94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261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67925F-FC03-BB9E-3735-967181A9C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1DA006-AE7F-E60E-E77F-1BE8D3C24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DC88E2-7B16-57D7-F7D9-0A3EFCF5E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8166F21-82E7-FA03-80F8-728830E98B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A13DADE-5D34-0FC0-E1AC-E2FF8B6C9A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30A353-8ADA-BAA6-0E95-3EA9F43B1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0C44-2511-48EC-9379-AF3DA0804D6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B6FBA7C-F7F8-A56B-E91D-CF39A443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167A24A-1450-D010-307B-3193F3803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E103-93A9-4988-8A2A-197880A94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395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FC0100-8451-3F4D-60DE-0C1298449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29D869-7F69-6052-BA28-DDB41B8E6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0C44-2511-48EC-9379-AF3DA0804D6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1AFD50-916B-0895-2BCB-08EB9CEB7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5200B7-D17C-FEB8-3D45-5F234BC5F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E103-93A9-4988-8A2A-197880A94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523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176D056-5A13-56AD-7B97-C2A065BBD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0C44-2511-48EC-9379-AF3DA0804D6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1EFAABB-663E-1D57-F632-C7E35CD4B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DD5635-E453-0AFC-0D97-2D9013FB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E103-93A9-4988-8A2A-197880A94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48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B27F08-91CC-A3F7-ED07-78FAD7E6F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5D8EEC-89D1-65C4-5BC6-77C4AB97C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49F63C-3576-4B15-343D-D5D17D817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53F224-369C-FADB-6F05-115E5B63A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0C44-2511-48EC-9379-AF3DA0804D6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05D5E6-9AB9-B4C1-AAE0-2D6ACBE3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7CBB03-AE7E-2015-F96B-F076E0CDF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E103-93A9-4988-8A2A-197880A94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1117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904A70-ACF0-CAAC-7381-29A1BA9AE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12296D-C1C9-00A4-D72A-BF7FD1A2D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A33528-975D-3B1E-ADD8-51FBC195E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D438D8-2639-25AD-FDBA-4E2BA3FD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0C44-2511-48EC-9379-AF3DA0804D6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9F9F9B-493B-3B6C-F7E6-2F52C7705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88490C-9C17-9AEC-31A6-4DE5DA4E0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E103-93A9-4988-8A2A-197880A94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441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7627F5-B471-9435-C5A5-77780ACAC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1E639B-8DC7-87DB-44AC-484B15066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38AAA2-707F-6AE4-5077-56A7FE634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0C44-2511-48EC-9379-AF3DA0804D6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2F12AD-D62B-9930-9B19-DDA708B14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B4A354-FC32-B4AC-3A9A-42031807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E103-93A9-4988-8A2A-197880A94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396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B1831E-21E5-5928-EDA5-6F2A61CA07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A45747-7F5D-C0C0-517C-20026C0FD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A8977B-52BC-5929-E806-A9D5B3747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0C44-2511-48EC-9379-AF3DA0804D6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C01A1B-DA40-589E-793D-04BE666C2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E1D323-26D0-22A4-6C8C-5DD6B169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E103-93A9-4988-8A2A-197880A94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767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023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A450D4-9F98-7EB4-455C-E8AFFC7A4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2802A6-345C-DA19-97A7-DAAE7EFDF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E3CEE1-061D-CA0E-02C7-E26E26FAA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980C44-2511-48EC-9379-AF3DA0804D6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82D719-CD16-5448-F05D-95CA74637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C5B2DD-2E10-A789-4702-C4D0DB4C5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0E103-93A9-4988-8A2A-197880A94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473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0000" y="180000"/>
            <a:ext cx="7200000" cy="7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000" b="1" i="0" u="none" strike="noStrike" dirty="0">
                <a:solidFill>
                  <a:srgbClr val="008800"/>
                </a:solidFill>
                <a:latin typeface="思源宋体 VF Heavy" panose="02020200000000000000" pitchFamily="18" charset="-122"/>
                <a:ea typeface="思源宋体 VF Heavy" panose="02020200000000000000" pitchFamily="18" charset="-122"/>
                <a:cs typeface="Noto Serif SC"/>
                <a:sym typeface="Noto Serif SC"/>
              </a:rPr>
              <a:t>2.2 </a:t>
            </a:r>
            <a:r>
              <a:rPr lang="en-US" sz="3000" b="1" i="0" u="none" strike="noStrike" dirty="0" err="1">
                <a:solidFill>
                  <a:srgbClr val="008800"/>
                </a:solidFill>
                <a:latin typeface="思源宋体 VF Heavy" panose="02020200000000000000" pitchFamily="18" charset="-122"/>
                <a:ea typeface="思源宋体 VF Heavy" panose="02020200000000000000" pitchFamily="18" charset="-122"/>
                <a:cs typeface="Noto Serif SC"/>
                <a:sym typeface="Noto Serif SC"/>
              </a:rPr>
              <a:t>四大</a:t>
            </a:r>
            <a:r>
              <a:rPr lang="zh-CN" altLang="en-US" sz="3000" b="1" i="0" u="none" strike="noStrike" dirty="0">
                <a:solidFill>
                  <a:srgbClr val="008800"/>
                </a:solidFill>
                <a:latin typeface="思源宋体 VF Heavy" panose="02020200000000000000" pitchFamily="18" charset="-122"/>
                <a:ea typeface="思源宋体 VF Heavy" panose="02020200000000000000" pitchFamily="18" charset="-122"/>
                <a:cs typeface="Noto Serif SC"/>
                <a:sym typeface="Noto Serif SC"/>
              </a:rPr>
              <a:t>核心产品体系</a:t>
            </a:r>
            <a:endParaRPr lang="en-US" sz="3000" dirty="0">
              <a:latin typeface="思源宋体 VF Heavy" panose="02020200000000000000" pitchFamily="18" charset="-122"/>
              <a:ea typeface="思源宋体 VF Heavy" panose="02020200000000000000" pitchFamily="18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08000" y="1397000"/>
            <a:ext cx="2667000" cy="4699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460500" y="1651000"/>
            <a:ext cx="762000" cy="762000"/>
          </a:xfrm>
          <a:prstGeom prst="ellipse">
            <a:avLst/>
          </a:prstGeom>
          <a:solidFill>
            <a:srgbClr val="008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51000" y="1841500"/>
            <a:ext cx="381000" cy="381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635000" y="2603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8800"/>
                </a:solidFill>
                <a:latin typeface="Noto Sans SC"/>
                <a:ea typeface="Noto Sans SC"/>
                <a:cs typeface="Noto Sans SC"/>
                <a:sym typeface="Noto Sans SC"/>
              </a:rPr>
              <a:t>保洁清洗类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0221">
            <a:off x="762019" y="3168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762000" y="3429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核心服务范围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810000"/>
            <a:ext cx="2159000" cy="952500"/>
          </a:xfrm>
          <a:prstGeom prst="roundRect">
            <a:avLst>
              <a:gd name="adj" fmla="val 8000"/>
            </a:avLst>
          </a:prstGeom>
          <a:solidFill>
            <a:srgbClr val="F5F7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indent="0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日常</a:t>
            </a:r>
            <a:r>
              <a:rPr lang="zh-CN" alt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保洁、</a:t>
            </a: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深度保洁</a:t>
            </a:r>
            <a:r>
              <a:rPr lang="zh-CN" altLang="en-US" sz="11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endParaRPr lang="en-US" sz="11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>
              <a:lnSpc>
                <a:spcPct val="108333"/>
              </a:lnSpc>
              <a:defRPr/>
            </a:pPr>
            <a:r>
              <a:rPr lang="zh-CN" alt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双面</a:t>
            </a: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擦玻璃</a:t>
            </a:r>
            <a: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zh-CN" alt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全屋</a:t>
            </a: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大扫除</a:t>
            </a:r>
            <a:r>
              <a:rPr lang="zh-CN" altLang="en-US" sz="11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endParaRPr lang="en-US" sz="11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  <a:defRPr/>
            </a:pPr>
            <a:r>
              <a:rPr lang="zh-CN" altLang="en-US" sz="11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开荒保洁、</a:t>
            </a:r>
            <a:r>
              <a:rPr lang="en-US" altLang="zh-CN" sz="110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全屋收纳整理</a:t>
            </a:r>
            <a:r>
              <a:rPr lang="zh-CN" altLang="en-US" sz="11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endParaRPr lang="en-US" altLang="zh-CN" sz="1100" dirty="0"/>
          </a:p>
          <a:p>
            <a:pPr indent="0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家电</a:t>
            </a:r>
            <a: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布艺清洗</a:t>
            </a:r>
            <a:r>
              <a:rPr 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……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953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99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核心服务特色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5334000"/>
            <a:ext cx="2159000" cy="635000"/>
          </a:xfrm>
          <a:prstGeom prst="roundRect">
            <a:avLst>
              <a:gd name="adj" fmla="val 12000"/>
            </a:avLst>
          </a:prstGeom>
          <a:solidFill>
            <a:srgbClr val="FF995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0" i="0" u="none" strike="noStrike" dirty="0" err="1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标准化SOP流程，全屋洁净焕新体验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3429000" y="1397000"/>
            <a:ext cx="2667000" cy="4699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381500" y="1651000"/>
            <a:ext cx="762000" cy="762000"/>
          </a:xfrm>
          <a:prstGeom prst="ellipse">
            <a:avLst/>
          </a:prstGeom>
          <a:solidFill>
            <a:srgbClr val="008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1841500"/>
            <a:ext cx="381000" cy="381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556000" y="2603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8800"/>
                </a:solidFill>
                <a:latin typeface="Noto Sans SC"/>
                <a:ea typeface="Noto Sans SC"/>
                <a:cs typeface="Noto Sans SC"/>
                <a:sym typeface="Noto Sans SC"/>
              </a:rPr>
              <a:t>照料陪护类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20221">
            <a:off x="3683019" y="3168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3683000" y="3429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核心服务范围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683000" y="3810000"/>
            <a:ext cx="2159000" cy="952500"/>
          </a:xfrm>
          <a:prstGeom prst="roundRect">
            <a:avLst>
              <a:gd name="adj" fmla="val 8000"/>
            </a:avLst>
          </a:prstGeom>
          <a:solidFill>
            <a:srgbClr val="F5F7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indent="0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专业月嫂、育儿嫂</a:t>
            </a:r>
            <a:r>
              <a:rPr lang="zh-CN" altLang="en-US" sz="11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endParaRPr lang="en-US" sz="11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术后康复与病患陪护服务</a:t>
            </a:r>
            <a:r>
              <a:rPr lang="zh-CN" alt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endParaRPr lang="en-US" sz="11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  <a:defRPr/>
            </a:pPr>
            <a:r>
              <a:rPr lang="en-US" altLang="zh-CN" sz="110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养老陪护</a:t>
            </a:r>
            <a:r>
              <a:rPr lang="en-US" altLang="zh-CN" sz="11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……</a:t>
            </a:r>
          </a:p>
        </p:txBody>
      </p:sp>
      <p:sp>
        <p:nvSpPr>
          <p:cNvPr id="19" name="AutoShape 19"/>
          <p:cNvSpPr/>
          <p:nvPr/>
        </p:nvSpPr>
        <p:spPr>
          <a:xfrm>
            <a:off x="3683000" y="4953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99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核心服务特色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683000" y="5334000"/>
            <a:ext cx="2159000" cy="635000"/>
          </a:xfrm>
          <a:prstGeom prst="roundRect">
            <a:avLst>
              <a:gd name="adj" fmla="val 12000"/>
            </a:avLst>
          </a:prstGeom>
          <a:solidFill>
            <a:srgbClr val="FF995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0" i="0" u="none" strike="noStrike" dirty="0" err="1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全员持证上岗，每日专属服务日志反馈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6350000" y="1397000"/>
            <a:ext cx="2667000" cy="4699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302500" y="1651000"/>
            <a:ext cx="762000" cy="762000"/>
          </a:xfrm>
          <a:prstGeom prst="ellipse">
            <a:avLst/>
          </a:prstGeom>
          <a:solidFill>
            <a:srgbClr val="008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93000" y="1841500"/>
            <a:ext cx="381000" cy="381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477000" y="2603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8800"/>
                </a:solidFill>
                <a:latin typeface="Noto Sans SC"/>
                <a:ea typeface="Noto Sans SC"/>
                <a:cs typeface="Noto Sans SC"/>
                <a:sym typeface="Noto Sans SC"/>
              </a:rPr>
              <a:t>家庭事务类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0221">
            <a:off x="6604019" y="3168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604000" y="3429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核心服务范围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604000" y="3810000"/>
            <a:ext cx="2159000" cy="952500"/>
          </a:xfrm>
          <a:prstGeom prst="roundRect">
            <a:avLst>
              <a:gd name="adj" fmla="val 8000"/>
            </a:avLst>
          </a:prstGeom>
          <a:solidFill>
            <a:srgbClr val="F5F7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indent="0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住家</a:t>
            </a:r>
            <a:r>
              <a:rPr lang="zh-CN" alt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保姆、</a:t>
            </a: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白班保姆</a:t>
            </a:r>
            <a:r>
              <a:rPr lang="zh-CN" altLang="en-US" sz="11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endParaRPr lang="en-US" sz="11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专业做饭阿姨</a:t>
            </a:r>
            <a:r>
              <a:rPr lang="zh-CN" altLang="en-US" sz="11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endParaRPr lang="en-US" sz="11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钟点工上门服务</a:t>
            </a:r>
            <a:r>
              <a:rPr lang="zh-CN" alt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等</a:t>
            </a:r>
            <a:r>
              <a:rPr lang="en-US" altLang="zh-CN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……</a:t>
            </a:r>
            <a:endParaRPr lang="en-US" sz="1100" dirty="0"/>
          </a:p>
        </p:txBody>
      </p:sp>
      <p:sp>
        <p:nvSpPr>
          <p:cNvPr id="28" name="AutoShape 28"/>
          <p:cNvSpPr/>
          <p:nvPr/>
        </p:nvSpPr>
        <p:spPr>
          <a:xfrm>
            <a:off x="6604000" y="4953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99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核心服务特色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604000" y="5334000"/>
            <a:ext cx="2159000" cy="635000"/>
          </a:xfrm>
          <a:prstGeom prst="roundRect">
            <a:avLst>
              <a:gd name="adj" fmla="val 12000"/>
            </a:avLst>
          </a:prstGeom>
          <a:solidFill>
            <a:srgbClr val="FF995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0" i="0" u="none" strike="noStrike" dirty="0" err="1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服务内容灵活定制，彻底解决家庭刚需</a:t>
            </a:r>
            <a:endParaRPr lang="en-US" sz="1100" dirty="0"/>
          </a:p>
        </p:txBody>
      </p:sp>
      <p:sp>
        <p:nvSpPr>
          <p:cNvPr id="30" name="AutoShape 30"/>
          <p:cNvSpPr/>
          <p:nvPr/>
        </p:nvSpPr>
        <p:spPr>
          <a:xfrm>
            <a:off x="9271000" y="1397000"/>
            <a:ext cx="2667000" cy="4699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10223500" y="1651000"/>
            <a:ext cx="762000" cy="762000"/>
          </a:xfrm>
          <a:prstGeom prst="ellipse">
            <a:avLst/>
          </a:prstGeom>
          <a:solidFill>
            <a:srgbClr val="008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4000" y="1841500"/>
            <a:ext cx="381000" cy="3810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9398000" y="2603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8800"/>
                </a:solidFill>
                <a:latin typeface="Noto Sans SC"/>
                <a:ea typeface="Noto Sans SC"/>
                <a:cs typeface="Noto Sans SC"/>
                <a:sym typeface="Noto Sans SC"/>
              </a:rPr>
              <a:t>支援服务类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20221">
            <a:off x="9525019" y="3168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9525000" y="3429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核心服务范围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525000" y="3810000"/>
            <a:ext cx="2159000" cy="952500"/>
          </a:xfrm>
          <a:prstGeom prst="roundRect">
            <a:avLst>
              <a:gd name="adj" fmla="val 8000"/>
            </a:avLst>
          </a:prstGeom>
          <a:solidFill>
            <a:srgbClr val="F5F7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indent="0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宠物喂养遛弯</a:t>
            </a:r>
            <a:r>
              <a:rPr lang="zh-CN" alt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endParaRPr lang="en-US" sz="11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家庭临时帮厨协助</a:t>
            </a:r>
            <a:r>
              <a:rPr lang="zh-CN" altLang="en-US" sz="11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endParaRPr lang="en-US" sz="11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>
              <a:lnSpc>
                <a:spcPct val="108333"/>
              </a:lnSpc>
              <a:defRPr/>
            </a:pPr>
            <a:r>
              <a:rPr lang="zh-CN" altLang="en-US" sz="1100" dirty="0">
                <a:solidFill>
                  <a:srgbClr val="555555"/>
                </a:solidFill>
                <a:latin typeface="Noto Sans SC"/>
                <a:ea typeface="Noto Sans SC"/>
                <a:sym typeface="Noto Sans SC"/>
              </a:rPr>
              <a:t>维修工服务等</a:t>
            </a:r>
            <a:r>
              <a:rPr lang="en-US" altLang="zh-CN" sz="1100" dirty="0">
                <a:solidFill>
                  <a:srgbClr val="555555"/>
                </a:solidFill>
                <a:latin typeface="Noto Sans SC"/>
                <a:ea typeface="Noto Sans SC"/>
                <a:sym typeface="Noto Sans SC"/>
              </a:rPr>
              <a:t>……</a:t>
            </a:r>
            <a:endParaRPr lang="en-US" sz="1100" dirty="0"/>
          </a:p>
        </p:txBody>
      </p:sp>
      <p:sp>
        <p:nvSpPr>
          <p:cNvPr id="37" name="AutoShape 37"/>
          <p:cNvSpPr/>
          <p:nvPr/>
        </p:nvSpPr>
        <p:spPr>
          <a:xfrm>
            <a:off x="9525000" y="4953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99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核心服务特色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525000" y="5334000"/>
            <a:ext cx="2159000" cy="635000"/>
          </a:xfrm>
          <a:prstGeom prst="roundRect">
            <a:avLst>
              <a:gd name="adj" fmla="val 12000"/>
            </a:avLst>
          </a:prstGeom>
          <a:solidFill>
            <a:srgbClr val="FF9955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0" rIns="10160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0" i="0" u="none" strike="noStrike" dirty="0" err="1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个性化按需定制，响应迅速，高效解决</a:t>
            </a:r>
            <a:endParaRPr lang="en-US" sz="1100" dirty="0"/>
          </a:p>
        </p:txBody>
      </p:sp>
      <p:sp>
        <p:nvSpPr>
          <p:cNvPr id="41" name="AutoShape 21"/>
          <p:cNvSpPr/>
          <p:nvPr/>
        </p:nvSpPr>
        <p:spPr>
          <a:xfrm>
            <a:off x="2129536" y="6417056"/>
            <a:ext cx="7932928" cy="293624"/>
          </a:xfrm>
          <a:prstGeom prst="roundRect">
            <a:avLst>
              <a:gd name="adj" fmla="val 20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从日常清洁到专业护理，全方位的家庭服务解决方案，致力于为您打造洁净、舒适、无忧的高品质居家生活</a:t>
            </a:r>
            <a:r>
              <a:rPr lang="en-US" sz="12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2DBE4-8A95-3F5A-6742-966E0B983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48">
            <a:extLst>
              <a:ext uri="{FF2B5EF4-FFF2-40B4-BE49-F238E27FC236}">
                <a16:creationId xmlns:a16="http://schemas.microsoft.com/office/drawing/2014/main" id="{8C8BC5F0-8BB9-4DD9-4FE8-CABC8D1A5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9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78683"/>
            <a:ext cx="12192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日常保洁</a:t>
            </a:r>
            <a:r>
              <a:rPr lang="en-US" sz="2400" b="1" i="0" u="none" strike="noStrike" dirty="0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2400" b="1" dirty="0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VS</a:t>
            </a:r>
            <a:r>
              <a:rPr lang="en-US" sz="2400" b="1" i="0" u="none" strike="noStrike" dirty="0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400" b="1" i="0" u="none" strike="noStrike" dirty="0" err="1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深度保洁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0" y="749300"/>
            <a:ext cx="12192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FFAA55"/>
                </a:solidFill>
                <a:latin typeface="Noto Sans SC"/>
                <a:ea typeface="Noto Sans SC"/>
                <a:cs typeface="Noto Sans SC"/>
                <a:sym typeface="Noto Sans SC"/>
              </a:rPr>
              <a:t>每周都扫选日常，好久没扫选深度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254000" y="1257300"/>
            <a:ext cx="5588000" cy="4419600"/>
          </a:xfrm>
          <a:prstGeom prst="roundRect">
            <a:avLst>
              <a:gd name="adj" fmla="val 5421"/>
            </a:avLst>
          </a:prstGeom>
          <a:solidFill>
            <a:srgbClr val="EEF5E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4884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44500" y="1587500"/>
            <a:ext cx="5207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🧹 </a:t>
            </a:r>
            <a:r>
              <a:rPr lang="en-US" sz="1600" b="1" i="0" u="none" strike="noStrike" dirty="0" err="1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日常保洁｜维持日常整洁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444500" y="2032000"/>
            <a:ext cx="2425700" cy="1130300"/>
          </a:xfrm>
          <a:prstGeom prst="roundRect">
            <a:avLst>
              <a:gd name="adj" fmla="val 1011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69900" y="2133600"/>
            <a:ext cx="228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8800"/>
                </a:solidFill>
                <a:latin typeface="Noto Sans SC"/>
                <a:ea typeface="Noto Sans SC"/>
                <a:cs typeface="Noto Sans SC"/>
                <a:sym typeface="Noto Sans SC"/>
              </a:rPr>
              <a:t>¥49.9 / 小时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69900" y="2603500"/>
            <a:ext cx="228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646E64"/>
                </a:solidFill>
                <a:latin typeface="Noto Sans SC"/>
                <a:ea typeface="Noto Sans SC"/>
                <a:cs typeface="Noto Sans SC"/>
                <a:sym typeface="Noto Sans SC"/>
              </a:rPr>
              <a:t>⏱️ 100㎡约 2–4 </a:t>
            </a:r>
            <a:r>
              <a:rPr lang="en-US" sz="1000" b="0" i="0" u="none" strike="noStrike" dirty="0" err="1">
                <a:solidFill>
                  <a:srgbClr val="646E64"/>
                </a:solidFill>
                <a:latin typeface="Noto Sans SC"/>
                <a:ea typeface="Noto Sans SC"/>
                <a:cs typeface="Noto Sans SC"/>
                <a:sym typeface="Noto Sans SC"/>
              </a:rPr>
              <a:t>小时</a:t>
            </a:r>
            <a:br>
              <a:rPr lang="en-US" sz="1000" b="0" i="0" u="none" strike="noStrike" dirty="0">
                <a:solidFill>
                  <a:srgbClr val="646E6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 dirty="0">
                <a:solidFill>
                  <a:srgbClr val="646E64"/>
                </a:solidFill>
                <a:latin typeface="Noto Sans SC"/>
                <a:ea typeface="Noto Sans SC"/>
                <a:cs typeface="Noto Sans SC"/>
                <a:sym typeface="Noto Sans SC"/>
              </a:rPr>
              <a:t>💰 </a:t>
            </a:r>
            <a:r>
              <a:rPr lang="en-US" sz="1000" b="0" i="0" u="none" strike="noStrike" dirty="0" err="1">
                <a:solidFill>
                  <a:srgbClr val="646E64"/>
                </a:solidFill>
                <a:latin typeface="Noto Sans SC"/>
                <a:ea typeface="Noto Sans SC"/>
                <a:cs typeface="Noto Sans SC"/>
                <a:sym typeface="Noto Sans SC"/>
              </a:rPr>
              <a:t>每月不到</a:t>
            </a:r>
            <a:r>
              <a:rPr lang="en-US" sz="1000" b="0" i="0" u="none" strike="noStrike" dirty="0">
                <a:solidFill>
                  <a:srgbClr val="646E64"/>
                </a:solidFill>
                <a:latin typeface="Noto Sans SC"/>
                <a:ea typeface="Noto Sans SC"/>
                <a:cs typeface="Noto Sans SC"/>
                <a:sym typeface="Noto Sans SC"/>
              </a:rPr>
              <a:t> 200 元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3225800" y="2019300"/>
            <a:ext cx="2425700" cy="1143000"/>
          </a:xfrm>
          <a:prstGeom prst="roundRect">
            <a:avLst>
              <a:gd name="adj" fmla="val 7777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365500" y="2133600"/>
            <a:ext cx="2032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🎯 适合谁 / 什么场景？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365500" y="2413000"/>
            <a:ext cx="2159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50800" tIns="25400" rIns="50800" bIns="2540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9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🏠 </a:t>
            </a:r>
            <a:r>
              <a:rPr lang="en-US" sz="9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每周</a:t>
            </a:r>
            <a:r>
              <a:rPr lang="en-US" sz="9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9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半月固定清洁</a:t>
            </a:r>
            <a:br>
              <a:rPr lang="en-US" sz="9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🧴 </a:t>
            </a:r>
            <a:r>
              <a:rPr lang="en-US" sz="9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家中基础整洁，想维持清爽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368300" y="32385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95300" y="3302000"/>
            <a:ext cx="5207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📋 核心服务 (7项基础维护)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95300" y="3619500"/>
            <a:ext cx="2476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全屋地面清扫拖拭</a:t>
            </a:r>
            <a:b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桌面/台面/家具表面除尘</a:t>
            </a:r>
            <a:b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厨房台面/水槽/灶台清洁</a:t>
            </a:r>
            <a:b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卫生间台盆/马桶外侧清洁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048000" y="3619500"/>
            <a:ext cx="2413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床铺简单整理/衣物归位</a:t>
            </a:r>
            <a:b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垃圾桶清空/更换垃圾袋</a:t>
            </a:r>
            <a:b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物品简单归位/杂物整理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8300" y="4699000"/>
            <a:ext cx="2476500" cy="8255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95300" y="4762500"/>
            <a:ext cx="12573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😓 自己动手痛点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95300" y="5054600"/>
            <a:ext cx="22225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900" b="0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周末时间被家务占用，耗时耗力</a:t>
            </a:r>
            <a:r>
              <a:rPr lang="en-US" sz="9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</a:p>
          <a:p>
            <a:pPr indent="0" algn="l">
              <a:lnSpc>
                <a:spcPct val="91666"/>
              </a:lnSpc>
              <a:defRPr/>
            </a:pPr>
            <a:r>
              <a:rPr lang="en-US" sz="900" b="0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清洁效果不稳定，容易腰酸背痛</a:t>
            </a:r>
            <a:r>
              <a:rPr lang="en-US" sz="9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200" dirty="0"/>
          </a:p>
        </p:txBody>
      </p:sp>
      <p:sp>
        <p:nvSpPr>
          <p:cNvPr id="19" name="AutoShape 19"/>
          <p:cNvSpPr/>
          <p:nvPr/>
        </p:nvSpPr>
        <p:spPr>
          <a:xfrm>
            <a:off x="3225800" y="4699000"/>
            <a:ext cx="2476500" cy="8255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3352800" y="4762500"/>
            <a:ext cx="12573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🎉 交给喜云优势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352800" y="5054600"/>
            <a:ext cx="22225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800" b="0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每月不到</a:t>
            </a:r>
            <a:r>
              <a:rPr lang="en-US" sz="8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 200 </a:t>
            </a:r>
            <a:r>
              <a:rPr lang="en-US" sz="800" b="0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元，轻松告别大扫除；把时间留给休息、陪伴家人，回家即享清爽</a:t>
            </a:r>
            <a:r>
              <a:rPr lang="en-US" sz="8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6096000" y="1257300"/>
            <a:ext cx="5588000" cy="4419600"/>
          </a:xfrm>
          <a:prstGeom prst="roundRect">
            <a:avLst>
              <a:gd name="adj" fmla="val 5421"/>
            </a:avLst>
          </a:prstGeom>
          <a:solidFill>
            <a:srgbClr val="EBF5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FFAA55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286500" y="1587500"/>
            <a:ext cx="5207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67800"/>
                </a:solidFill>
                <a:latin typeface="Noto Sans SC"/>
                <a:ea typeface="Noto Sans SC"/>
                <a:cs typeface="Noto Sans SC"/>
                <a:sym typeface="Noto Sans SC"/>
              </a:rPr>
              <a:t>✨ 深度保洁｜全屋彻底焕新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86500" y="2032000"/>
            <a:ext cx="2336800" cy="1130300"/>
          </a:xfrm>
          <a:prstGeom prst="roundRect">
            <a:avLst>
              <a:gd name="adj" fmla="val 89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311900" y="2133600"/>
            <a:ext cx="228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8800"/>
                </a:solidFill>
                <a:latin typeface="Noto Sans SC"/>
                <a:ea typeface="Noto Sans SC"/>
                <a:cs typeface="Noto Sans SC"/>
                <a:sym typeface="Noto Sans SC"/>
              </a:rPr>
              <a:t>¥65.0 / 小时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11900" y="2603500"/>
            <a:ext cx="228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646E64"/>
                </a:solidFill>
                <a:latin typeface="Noto Sans SC"/>
                <a:ea typeface="Noto Sans SC"/>
                <a:cs typeface="Noto Sans SC"/>
                <a:sym typeface="Noto Sans SC"/>
              </a:rPr>
              <a:t>⏱️ 100㎡约 5–8 </a:t>
            </a:r>
            <a:r>
              <a:rPr lang="en-US" sz="1000" b="0" i="0" u="none" strike="noStrike" dirty="0" err="1">
                <a:solidFill>
                  <a:srgbClr val="646E64"/>
                </a:solidFill>
                <a:latin typeface="Noto Sans SC"/>
                <a:ea typeface="Noto Sans SC"/>
                <a:cs typeface="Noto Sans SC"/>
                <a:sym typeface="Noto Sans SC"/>
              </a:rPr>
              <a:t>小时</a:t>
            </a:r>
            <a:br>
              <a:rPr lang="en-US" sz="1000" b="0" i="0" u="none" strike="noStrike" dirty="0">
                <a:solidFill>
                  <a:srgbClr val="646E6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000" b="0" i="0" u="none" strike="noStrike" dirty="0">
                <a:solidFill>
                  <a:srgbClr val="646E64"/>
                </a:solidFill>
                <a:latin typeface="Noto Sans SC"/>
                <a:ea typeface="Noto Sans SC"/>
                <a:cs typeface="Noto Sans SC"/>
                <a:sym typeface="Noto Sans SC"/>
              </a:rPr>
              <a:t>💰 </a:t>
            </a:r>
            <a:r>
              <a:rPr lang="en-US" sz="1000" b="0" i="0" u="none" strike="noStrike" dirty="0" err="1">
                <a:solidFill>
                  <a:srgbClr val="646E64"/>
                </a:solidFill>
                <a:latin typeface="Noto Sans SC"/>
                <a:ea typeface="Noto Sans SC"/>
                <a:cs typeface="Noto Sans SC"/>
                <a:sym typeface="Noto Sans SC"/>
              </a:rPr>
              <a:t>每季度</a:t>
            </a:r>
            <a:r>
              <a:rPr lang="en-US" sz="1000" b="0" i="0" u="none" strike="noStrike" dirty="0">
                <a:solidFill>
                  <a:srgbClr val="646E64"/>
                </a:solidFill>
                <a:latin typeface="Noto Sans SC"/>
                <a:ea typeface="Noto Sans SC"/>
                <a:cs typeface="Noto Sans SC"/>
                <a:sym typeface="Noto Sans SC"/>
              </a:rPr>
              <a:t> 1 </a:t>
            </a:r>
            <a:r>
              <a:rPr lang="en-US" sz="1000" b="0" i="0" u="none" strike="noStrike" dirty="0" err="1">
                <a:solidFill>
                  <a:srgbClr val="646E64"/>
                </a:solidFill>
                <a:latin typeface="Noto Sans SC"/>
                <a:ea typeface="Noto Sans SC"/>
                <a:cs typeface="Noto Sans SC"/>
                <a:sym typeface="Noto Sans SC"/>
              </a:rPr>
              <a:t>次，全年轻松洁净</a:t>
            </a:r>
            <a:endParaRPr lang="en-US" sz="1100" dirty="0"/>
          </a:p>
        </p:txBody>
      </p:sp>
      <p:sp>
        <p:nvSpPr>
          <p:cNvPr id="27" name="AutoShape 27"/>
          <p:cNvSpPr/>
          <p:nvPr/>
        </p:nvSpPr>
        <p:spPr>
          <a:xfrm>
            <a:off x="9156700" y="2032000"/>
            <a:ext cx="2336800" cy="1143000"/>
          </a:xfrm>
          <a:prstGeom prst="roundRect">
            <a:avLst>
              <a:gd name="adj" fmla="val 7777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9296400" y="2133600"/>
            <a:ext cx="2032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🎯 适合谁 / 什么场景？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296400" y="2413000"/>
            <a:ext cx="2159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50800" tIns="25400" rIns="50800" bIns="2540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🕒 长期未深度打扫，死角积灰</a:t>
            </a:r>
            <a:b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📦 入住前 / 换季焕新 / 大扫除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286500" y="32385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BDEF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413500" y="3302000"/>
            <a:ext cx="5207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✨ 深度服务 (含日常7项 + 死角/重污清洁)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413500" y="3619500"/>
            <a:ext cx="2476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天花板/墙角/灯具除蛛网浮尘</a:t>
            </a:r>
            <a:b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踢脚线/开关面板精细擦拭</a:t>
            </a:r>
            <a:b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可移家具挪开清洁底部</a:t>
            </a:r>
            <a:b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厨房重油污/墙面/柜门清洁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953500" y="3619500"/>
            <a:ext cx="2413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油烟机表面/滤网去油处理</a:t>
            </a:r>
            <a:b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卫生间除霉/除垢/地漏清洁</a:t>
            </a:r>
            <a:b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淋浴房玻璃/五金件抛光</a:t>
            </a:r>
            <a:b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窗户玻璃/窗框/窗槽清洁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311900" y="4711700"/>
            <a:ext cx="2374900" cy="8255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BDEF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350000" y="4762500"/>
            <a:ext cx="12827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 dirty="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😓 </a:t>
            </a:r>
            <a:r>
              <a:rPr lang="en-US" sz="1200" b="1" i="0" u="none" strike="noStrike" dirty="0" err="1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自己动手痛点</a:t>
            </a:r>
            <a:endParaRPr lang="en-US" sz="1100" dirty="0"/>
          </a:p>
        </p:txBody>
      </p:sp>
      <p:sp>
        <p:nvSpPr>
          <p:cNvPr id="36" name="AutoShape 36"/>
          <p:cNvSpPr/>
          <p:nvPr/>
        </p:nvSpPr>
        <p:spPr>
          <a:xfrm>
            <a:off x="6350000" y="5054600"/>
            <a:ext cx="21209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800" b="0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死角多油污重，无专业工具</a:t>
            </a:r>
            <a:r>
              <a:rPr lang="en-US" sz="8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</a:p>
          <a:p>
            <a:pPr indent="0" algn="l">
              <a:lnSpc>
                <a:spcPct val="91666"/>
              </a:lnSpc>
              <a:defRPr/>
            </a:pPr>
            <a:r>
              <a:rPr lang="en-US" sz="800" b="0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折腾一天难彻底清洁，还易损伤家居表面</a:t>
            </a:r>
            <a:r>
              <a:rPr lang="en-US" sz="8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37" name="AutoShape 37"/>
          <p:cNvSpPr/>
          <p:nvPr/>
        </p:nvSpPr>
        <p:spPr>
          <a:xfrm>
            <a:off x="9156700" y="4737100"/>
            <a:ext cx="2336800" cy="8255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BDEF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9266178" y="4800600"/>
            <a:ext cx="1262122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 dirty="0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🎉 </a:t>
            </a:r>
            <a:r>
              <a:rPr lang="en-US" sz="1200" b="1" i="0" u="none" strike="noStrike" dirty="0" err="1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交给喜云优势</a:t>
            </a:r>
            <a:endParaRPr lang="en-US" sz="1100" dirty="0"/>
          </a:p>
        </p:txBody>
      </p:sp>
      <p:sp>
        <p:nvSpPr>
          <p:cNvPr id="39" name="AutoShape 39"/>
          <p:cNvSpPr/>
          <p:nvPr/>
        </p:nvSpPr>
        <p:spPr>
          <a:xfrm>
            <a:off x="9279624" y="5092700"/>
            <a:ext cx="2086875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800" b="0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专业工具+标准流程，死角重污一次性解决</a:t>
            </a:r>
            <a:r>
              <a:rPr lang="en-US" sz="8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</a:p>
          <a:p>
            <a:pPr indent="0" algn="l">
              <a:lnSpc>
                <a:spcPct val="91666"/>
              </a:lnSpc>
              <a:defRPr/>
            </a:pPr>
            <a:r>
              <a:rPr lang="en-US" sz="800" b="0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全程无需动手，全屋焕然一新</a:t>
            </a:r>
            <a:r>
              <a:rPr lang="en-US" sz="8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40" name="AutoShape 40"/>
          <p:cNvSpPr/>
          <p:nvPr/>
        </p:nvSpPr>
        <p:spPr>
          <a:xfrm>
            <a:off x="254000" y="5778500"/>
            <a:ext cx="11684000" cy="508000"/>
          </a:xfrm>
          <a:prstGeom prst="roundRect">
            <a:avLst>
              <a:gd name="adj" fmla="val 25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381000" y="5842000"/>
            <a:ext cx="1143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91666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💡 平时爱干净、定期打扫、维持状态 → 选</a:t>
            </a:r>
            <a:r>
              <a:rPr lang="en-US" sz="1100" b="1" i="0" u="none" strike="noStrike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日常保洁</a:t>
            </a: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| 💡 长期未清洁、卫生死角多、想彻底焕新 → 选</a:t>
            </a:r>
            <a:r>
              <a:rPr lang="en-US" sz="1100" b="1" i="0" u="none" strike="noStrike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深度保洁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0" y="6426200"/>
            <a:ext cx="1219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spc="100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让家更干净 · 让心更轻松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08000"/>
            <a:ext cx="12192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粗开荒 vs 精细开荒，该选哪个？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1016000"/>
            <a:ext cx="12192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AA55"/>
                </a:solidFill>
                <a:latin typeface="Noto Sans SC"/>
                <a:ea typeface="Noto Sans SC"/>
                <a:cs typeface="Noto Sans SC"/>
                <a:sym typeface="Noto Sans SC"/>
              </a:rPr>
              <a:t>装修刚完工选粗开荒 · 入住前选精细开荒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54000" y="1460500"/>
            <a:ext cx="5588000" cy="4216400"/>
          </a:xfrm>
          <a:prstGeom prst="roundRect">
            <a:avLst>
              <a:gd name="adj" fmla="val 5421"/>
            </a:avLst>
          </a:prstGeom>
          <a:solidFill>
            <a:srgbClr val="EEF5E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4884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44500" y="1587500"/>
            <a:ext cx="5207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🏗️ 粗开荒｜装修后基础清理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4500" y="2032000"/>
            <a:ext cx="2425700" cy="1130300"/>
          </a:xfrm>
          <a:prstGeom prst="roundRect">
            <a:avLst>
              <a:gd name="adj" fmla="val 1011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69900" y="2133600"/>
            <a:ext cx="228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8800"/>
                </a:solidFill>
                <a:latin typeface="Noto Sans SC"/>
                <a:ea typeface="Noto Sans SC"/>
                <a:cs typeface="Noto Sans SC"/>
                <a:sym typeface="Noto Sans SC"/>
              </a:rPr>
              <a:t>¥12.0 / 平米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69900" y="2603500"/>
            <a:ext cx="228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E64"/>
                </a:solidFill>
                <a:latin typeface="Noto Sans SC"/>
                <a:ea typeface="Noto Sans SC"/>
                <a:cs typeface="Noto Sans SC"/>
                <a:sym typeface="Noto Sans SC"/>
              </a:rPr>
              <a:t>⏱️ 100㎡约 6–10 小时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225800" y="2019300"/>
            <a:ext cx="2425700" cy="1143000"/>
          </a:xfrm>
          <a:prstGeom prst="roundRect">
            <a:avLst>
              <a:gd name="adj" fmla="val 7777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517900" y="2133600"/>
            <a:ext cx="10922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🎯 适用场景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30600" y="2413000"/>
            <a:ext cx="19812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50800" tIns="25400" rIns="50800" bIns="2540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9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🔨 装修完工，建筑垃圾已清走</a:t>
            </a:r>
            <a:endParaRPr lang="en-US" sz="1100"/>
          </a:p>
          <a:p>
            <a:pPr indent="0" algn="l">
              <a:lnSpc>
                <a:spcPct val="91666"/>
              </a:lnSpc>
            </a:pPr>
            <a:r>
              <a:rPr lang="en-US" sz="9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📦 准备进家具家电前的基础清洁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68300" y="32385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95300" y="3302000"/>
            <a:ext cx="5207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📋 核心服务：装修残留全清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95300" y="3619500"/>
            <a:ext cx="2476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全屋建筑垃圾二次清理与浮灰清除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窗户玻璃/窗框除漆点、水泥点/沙石</a:t>
            </a:r>
          </a:p>
          <a:p>
            <a:pPr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地面除胶、除漆点、除水泥印</a:t>
            </a:r>
          </a:p>
        </p:txBody>
      </p:sp>
      <p:sp>
        <p:nvSpPr>
          <p:cNvPr id="15" name="AutoShape 15"/>
          <p:cNvSpPr/>
          <p:nvPr/>
        </p:nvSpPr>
        <p:spPr>
          <a:xfrm>
            <a:off x="3048000" y="3619500"/>
            <a:ext cx="2413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厨卫安装残留物/柜体内部除尘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开关面板、灯具表面基础清洁</a:t>
            </a:r>
          </a:p>
        </p:txBody>
      </p:sp>
      <p:sp>
        <p:nvSpPr>
          <p:cNvPr id="16" name="AutoShape 16"/>
          <p:cNvSpPr/>
          <p:nvPr/>
        </p:nvSpPr>
        <p:spPr>
          <a:xfrm>
            <a:off x="368300" y="4699000"/>
            <a:ext cx="2476500" cy="8255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95300" y="4762500"/>
            <a:ext cx="12573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😓 自己动手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95300" y="5054600"/>
            <a:ext cx="22225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8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全屋灰尘多、铲水泥超累，工具不对还易刮花地面玻璃，效率极低。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225800" y="4699000"/>
            <a:ext cx="2476500" cy="8255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3276600" y="4762500"/>
            <a:ext cx="12573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🎉 交给喜云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276600" y="5054600"/>
            <a:ext cx="22225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8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专业工业吸尘器+专用铲刀，一趟清走所有装修残留，你不用吃灰受累。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096000" y="1460500"/>
            <a:ext cx="5588000" cy="4216400"/>
          </a:xfrm>
          <a:prstGeom prst="roundRect">
            <a:avLst>
              <a:gd name="adj" fmla="val 5421"/>
            </a:avLst>
          </a:prstGeom>
          <a:solidFill>
            <a:srgbClr val="EBF5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FFAA55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286500" y="1587500"/>
            <a:ext cx="5207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67800"/>
                </a:solidFill>
                <a:latin typeface="Noto Sans SC"/>
                <a:ea typeface="Noto Sans SC"/>
                <a:cs typeface="Noto Sans SC"/>
                <a:sym typeface="Noto Sans SC"/>
              </a:rPr>
              <a:t>🏡 精细开荒｜入住前深度精饰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86500" y="2032000"/>
            <a:ext cx="2336800" cy="1130300"/>
          </a:xfrm>
          <a:prstGeom prst="roundRect">
            <a:avLst>
              <a:gd name="adj" fmla="val 89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311900" y="2133600"/>
            <a:ext cx="228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8800"/>
                </a:solidFill>
                <a:latin typeface="Noto Sans SC"/>
                <a:ea typeface="Noto Sans SC"/>
                <a:cs typeface="Noto Sans SC"/>
                <a:sym typeface="Noto Sans SC"/>
              </a:rPr>
              <a:t>¥18.0 / 平米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11900" y="2603500"/>
            <a:ext cx="228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E64"/>
                </a:solidFill>
                <a:latin typeface="Noto Sans SC"/>
                <a:ea typeface="Noto Sans SC"/>
                <a:cs typeface="Noto Sans SC"/>
                <a:sym typeface="Noto Sans SC"/>
              </a:rPr>
              <a:t>⏱️ 100㎡约 10–16 小时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156700" y="2032000"/>
            <a:ext cx="2336800" cy="1143000"/>
          </a:xfrm>
          <a:prstGeom prst="roundRect">
            <a:avLst>
              <a:gd name="adj" fmla="val 7777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9512300" y="2146300"/>
            <a:ext cx="11684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🎯 适合场景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448800" y="2413000"/>
            <a:ext cx="19812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50800" tIns="25400" rIns="50800" bIns="2540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9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✨ 粗开荒已完成，入住前最后一步</a:t>
            </a:r>
            <a:endParaRPr lang="en-US" sz="1100"/>
          </a:p>
          <a:p>
            <a:pPr indent="0" algn="l">
              <a:lnSpc>
                <a:spcPct val="91666"/>
              </a:lnSpc>
            </a:pPr>
            <a:r>
              <a:rPr lang="en-US" sz="9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🏠 对洁净度要求高，想直接拎包入住</a:t>
            </a:r>
          </a:p>
        </p:txBody>
      </p:sp>
      <p:sp>
        <p:nvSpPr>
          <p:cNvPr id="30" name="AutoShape 30"/>
          <p:cNvSpPr/>
          <p:nvPr/>
        </p:nvSpPr>
        <p:spPr>
          <a:xfrm>
            <a:off x="6286500" y="3238500"/>
            <a:ext cx="5207000" cy="13462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BDEF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413500" y="3302000"/>
            <a:ext cx="5207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✨ 核心服务：深度精饰+入住标准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413500" y="3619500"/>
            <a:ext cx="2476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含粗开荒所有内容 + 缝隙/美缝深度清刷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五金件抛光/木地板养护/胶渍精细清理</a:t>
            </a:r>
          </a:p>
          <a:p>
            <a:pPr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铰链/轨道/门窗胶条等死角精细化清洁</a:t>
            </a:r>
          </a:p>
        </p:txBody>
      </p:sp>
      <p:sp>
        <p:nvSpPr>
          <p:cNvPr id="33" name="AutoShape 33"/>
          <p:cNvSpPr/>
          <p:nvPr/>
        </p:nvSpPr>
        <p:spPr>
          <a:xfrm>
            <a:off x="8953500" y="3619500"/>
            <a:ext cx="2413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全屋高温蒸汽消毒杀菌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空气治理（除甲醛/异味预处理）</a:t>
            </a:r>
          </a:p>
          <a:p>
            <a:pPr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达到“交付即入住”的洁净标准</a:t>
            </a:r>
          </a:p>
        </p:txBody>
      </p:sp>
      <p:sp>
        <p:nvSpPr>
          <p:cNvPr id="34" name="AutoShape 34"/>
          <p:cNvSpPr/>
          <p:nvPr/>
        </p:nvSpPr>
        <p:spPr>
          <a:xfrm>
            <a:off x="6311900" y="4699000"/>
            <a:ext cx="2374900" cy="8255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BDEF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413500" y="4762500"/>
            <a:ext cx="12827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 dirty="0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😓 </a:t>
            </a:r>
            <a:r>
              <a:rPr lang="en-US" sz="1200" b="1" i="0" u="none" strike="noStrike" dirty="0" err="1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自己动手</a:t>
            </a:r>
            <a:endParaRPr lang="en-US" sz="1100" dirty="0"/>
          </a:p>
        </p:txBody>
      </p:sp>
      <p:sp>
        <p:nvSpPr>
          <p:cNvPr id="36" name="AutoShape 36"/>
          <p:cNvSpPr/>
          <p:nvPr/>
        </p:nvSpPr>
        <p:spPr>
          <a:xfrm>
            <a:off x="6413500" y="5054600"/>
            <a:ext cx="20955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8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缝隙灰尘、胶条渣子难清理，擦三天也没专业效果，累到崩溃还留死角。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055100" y="4683440"/>
            <a:ext cx="2374900" cy="8255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BDEF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9398000" y="4762500"/>
            <a:ext cx="12827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 dirty="0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🎉 </a:t>
            </a:r>
            <a:r>
              <a:rPr lang="en-US" sz="1200" b="1" i="0" u="none" strike="noStrike" dirty="0" err="1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交给喜云</a:t>
            </a:r>
            <a:endParaRPr lang="en-US" sz="1100" dirty="0"/>
          </a:p>
        </p:txBody>
      </p:sp>
      <p:sp>
        <p:nvSpPr>
          <p:cNvPr id="39" name="AutoShape 39"/>
          <p:cNvSpPr/>
          <p:nvPr/>
        </p:nvSpPr>
        <p:spPr>
          <a:xfrm>
            <a:off x="9080500" y="5054600"/>
            <a:ext cx="20955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8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   </a:t>
            </a:r>
            <a:r>
              <a:rPr lang="en-US" sz="800" b="0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精细化到每一处缝隙与五金，交付即入住标准，你只管拎包入住</a:t>
            </a:r>
            <a:r>
              <a:rPr lang="en-US" sz="8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40" name="AutoShape 40"/>
          <p:cNvSpPr/>
          <p:nvPr/>
        </p:nvSpPr>
        <p:spPr>
          <a:xfrm>
            <a:off x="254000" y="5778500"/>
            <a:ext cx="11684000" cy="508000"/>
          </a:xfrm>
          <a:prstGeom prst="roundRect">
            <a:avLst>
              <a:gd name="adj" fmla="val 25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381000" y="5842000"/>
            <a:ext cx="1143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💡 装修刚完工、家具未进场 → 选</a:t>
            </a:r>
            <a:r>
              <a:rPr lang="en-US" sz="1100" b="1" i="0" u="none" strike="noStrike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粗开荒 (清大面)</a:t>
            </a: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| 💡 粗开荒做完 / 想直接入住 → 选</a:t>
            </a:r>
            <a:r>
              <a:rPr lang="en-US" sz="1100" b="1" i="0" u="none" strike="noStrike">
                <a:solidFill>
                  <a:srgbClr val="2196F3"/>
                </a:solidFill>
                <a:latin typeface="Noto Sans SC"/>
                <a:ea typeface="Noto Sans SC"/>
                <a:cs typeface="Noto Sans SC"/>
                <a:sym typeface="Noto Sans SC"/>
              </a:rPr>
              <a:t>精细开荒 (深度精饰)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0" y="6426200"/>
            <a:ext cx="1219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spc="100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选对开荒保洁 · 入住更舒心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08000"/>
            <a:ext cx="12192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精细保洁 vs 全屋大扫除，该选哪个？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1016000"/>
            <a:ext cx="12192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AA55"/>
                </a:solidFill>
                <a:latin typeface="Noto Sans SC"/>
                <a:ea typeface="Noto Sans SC"/>
                <a:cs typeface="Noto Sans SC"/>
                <a:sym typeface="Noto Sans SC"/>
              </a:rPr>
              <a:t>定期维持选精细保洁 · 彻底翻新选全屋大扫除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54000" y="1460500"/>
            <a:ext cx="5588000" cy="4216400"/>
          </a:xfrm>
          <a:prstGeom prst="roundRect">
            <a:avLst>
              <a:gd name="adj" fmla="val 5421"/>
            </a:avLst>
          </a:prstGeom>
          <a:solidFill>
            <a:srgbClr val="EEF5E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4884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44500" y="1587500"/>
            <a:ext cx="5207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🧼 精细保洁｜日常维持+局部精护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4500" y="2032000"/>
            <a:ext cx="2425700" cy="1130300"/>
          </a:xfrm>
          <a:prstGeom prst="roundRect">
            <a:avLst>
              <a:gd name="adj" fmla="val 1011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69900" y="2133600"/>
            <a:ext cx="228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800"/>
                </a:solidFill>
                <a:latin typeface="Noto Sans SC"/>
                <a:ea typeface="Noto Sans SC"/>
                <a:cs typeface="Noto Sans SC"/>
                <a:sym typeface="Noto Sans SC"/>
              </a:rPr>
              <a:t>¥3.5/㎡ | ¥39.9/h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69900" y="2603500"/>
            <a:ext cx="228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6E64"/>
                </a:solidFill>
                <a:latin typeface="Noto Sans SC"/>
                <a:ea typeface="Noto Sans SC"/>
                <a:cs typeface="Noto Sans SC"/>
                <a:sym typeface="Noto Sans SC"/>
              </a:rPr>
              <a:t>⏱️ 100㎡ 约 3–5 小时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225800" y="2019300"/>
            <a:ext cx="2425700" cy="1143000"/>
          </a:xfrm>
          <a:prstGeom prst="roundRect">
            <a:avLst>
              <a:gd name="adj" fmla="val 7777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302000" y="2095500"/>
            <a:ext cx="228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🎯 适合谁？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302000" y="2413000"/>
            <a:ext cx="228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📅 每周/半月固定清洁 | 🏠 家中基础整洁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⏳ 不想周末被家务占用时间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68300" y="3238500"/>
            <a:ext cx="5334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95300" y="3302000"/>
            <a:ext cx="5207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📋 核心服务 (日常基础维护)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95300" y="3619500"/>
            <a:ext cx="2476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全屋地面清扫拖拭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家具/台面/桌面除尘</a:t>
            </a:r>
          </a:p>
          <a:p>
            <a:pPr indent="0" algn="l">
              <a:lnSpc>
                <a:spcPct val="108333"/>
              </a:lnSpc>
            </a:pPr>
            <a:r>
              <a:rPr lang="en-US" sz="1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厨房台面/水槽/灶台清洁</a:t>
            </a:r>
          </a:p>
          <a:p>
            <a:pPr indent="0" algn="l">
              <a:lnSpc>
                <a:spcPct val="108333"/>
              </a:lnSpc>
            </a:pPr>
            <a:r>
              <a:rPr lang="en-US" sz="1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卫生间台盆/马桶外侧清洁</a:t>
            </a:r>
          </a:p>
        </p:txBody>
      </p:sp>
      <p:sp>
        <p:nvSpPr>
          <p:cNvPr id="15" name="AutoShape 15"/>
          <p:cNvSpPr/>
          <p:nvPr/>
        </p:nvSpPr>
        <p:spPr>
          <a:xfrm>
            <a:off x="3048000" y="3619500"/>
            <a:ext cx="2413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床铺整理/衣物归位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垃圾桶清空/换袋</a:t>
            </a:r>
          </a:p>
          <a:p>
            <a:pPr indent="0" algn="l">
              <a:lnSpc>
                <a:spcPct val="108333"/>
              </a:lnSpc>
            </a:pPr>
            <a:r>
              <a:rPr lang="en-US" sz="1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杂物归位/简单整理</a:t>
            </a:r>
          </a:p>
          <a:p>
            <a:pPr indent="0" algn="l">
              <a:lnSpc>
                <a:spcPct val="108333"/>
              </a:lnSpc>
            </a:pPr>
            <a:r>
              <a:rPr lang="en-US" sz="1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自选区域局部精护</a:t>
            </a:r>
          </a:p>
        </p:txBody>
      </p:sp>
      <p:sp>
        <p:nvSpPr>
          <p:cNvPr id="16" name="AutoShape 16"/>
          <p:cNvSpPr/>
          <p:nvPr/>
        </p:nvSpPr>
        <p:spPr>
          <a:xfrm>
            <a:off x="368300" y="4699000"/>
            <a:ext cx="2476500" cy="8255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95300" y="4762500"/>
            <a:ext cx="228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😓 自己动手的痛点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95300" y="5054600"/>
            <a:ext cx="228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9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每周扫地拖地擦灰，半天时间没了，周末本想休息陪家人，结果全耗在家务上。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225800" y="4699000"/>
            <a:ext cx="2476500" cy="8255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3352800" y="4762500"/>
            <a:ext cx="228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🎉 交给喜云的省心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352800" y="5054600"/>
            <a:ext cx="228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9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每周不到40元，把基础家务交给专业的人，你只管享受周末，回家即享清爽整洁。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096000" y="1460500"/>
            <a:ext cx="5588000" cy="4216400"/>
          </a:xfrm>
          <a:prstGeom prst="roundRect">
            <a:avLst>
              <a:gd name="adj" fmla="val 5421"/>
            </a:avLst>
          </a:prstGeom>
          <a:solidFill>
            <a:srgbClr val="EBF5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FFAA55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286500" y="1587500"/>
            <a:ext cx="5207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67800"/>
                </a:solidFill>
                <a:latin typeface="Noto Sans SC"/>
                <a:ea typeface="Noto Sans SC"/>
                <a:cs typeface="Noto Sans SC"/>
                <a:sym typeface="Noto Sans SC"/>
              </a:rPr>
              <a:t>🧹 全屋大扫除｜深度翻新式清洁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86500" y="2032000"/>
            <a:ext cx="2336800" cy="1130300"/>
          </a:xfrm>
          <a:prstGeom prst="roundRect">
            <a:avLst>
              <a:gd name="adj" fmla="val 89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311900" y="2133600"/>
            <a:ext cx="228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800"/>
                </a:solidFill>
                <a:latin typeface="Noto Sans SC"/>
                <a:ea typeface="Noto Sans SC"/>
                <a:cs typeface="Noto Sans SC"/>
                <a:sym typeface="Noto Sans SC"/>
              </a:rPr>
              <a:t>¥6.4/㎡ | ¥59.9/h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11900" y="2603500"/>
            <a:ext cx="228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6E64"/>
                </a:solidFill>
                <a:latin typeface="Noto Sans SC"/>
                <a:ea typeface="Noto Sans SC"/>
                <a:cs typeface="Noto Sans SC"/>
                <a:sym typeface="Noto Sans SC"/>
              </a:rPr>
              <a:t>⏱️ 100㎡ 约 5–8 小时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156700" y="2032000"/>
            <a:ext cx="2336800" cy="1143000"/>
          </a:xfrm>
          <a:prstGeom prst="roundRect">
            <a:avLst>
              <a:gd name="adj" fmla="val 7777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9271000" y="2095500"/>
            <a:ext cx="2159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🎯 适合谁？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271000" y="2413000"/>
            <a:ext cx="2159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📆 三月+未彻底打扫 | 🍂 换季/年前大扫除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🫧 想彻底翻新，告别死角</a:t>
            </a:r>
          </a:p>
        </p:txBody>
      </p:sp>
      <p:sp>
        <p:nvSpPr>
          <p:cNvPr id="30" name="AutoShape 30"/>
          <p:cNvSpPr/>
          <p:nvPr/>
        </p:nvSpPr>
        <p:spPr>
          <a:xfrm>
            <a:off x="6223000" y="3238500"/>
            <a:ext cx="5461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BDEF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413500" y="3302000"/>
            <a:ext cx="5207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✨ 深度服务 (含精细+死角攻坚)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413500" y="3619500"/>
            <a:ext cx="2476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天花板/灯具/墙面立体除尘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窗户玻璃/窗框/窗轨彻底清洁</a:t>
            </a:r>
          </a:p>
          <a:p>
            <a:pPr indent="0" algn="l">
              <a:lnSpc>
                <a:spcPct val="108333"/>
              </a:lnSpc>
            </a:pPr>
            <a:r>
              <a:rPr lang="en-US" sz="1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可移家具挪开，清洁底部死角</a:t>
            </a:r>
          </a:p>
          <a:p>
            <a:pPr indent="0" algn="l">
              <a:lnSpc>
                <a:spcPct val="108333"/>
              </a:lnSpc>
            </a:pPr>
            <a:r>
              <a:rPr lang="en-US" sz="1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厨房重油污/油烟机滤网去油</a:t>
            </a:r>
          </a:p>
        </p:txBody>
      </p:sp>
      <p:sp>
        <p:nvSpPr>
          <p:cNvPr id="33" name="AutoShape 33"/>
          <p:cNvSpPr/>
          <p:nvPr/>
        </p:nvSpPr>
        <p:spPr>
          <a:xfrm>
            <a:off x="8953500" y="3619500"/>
            <a:ext cx="2413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卫生间除霉/除垢/地漏清洁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淋浴房玻璃/五金件抛光去垢</a:t>
            </a:r>
          </a:p>
          <a:p>
            <a:pPr indent="0" algn="l">
              <a:lnSpc>
                <a:spcPct val="108333"/>
              </a:lnSpc>
            </a:pPr>
            <a:r>
              <a:rPr lang="en-US" sz="1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全屋踢脚线/开关面板擦拭</a:t>
            </a:r>
          </a:p>
          <a:p>
            <a:pPr indent="0" algn="l">
              <a:lnSpc>
                <a:spcPct val="108333"/>
              </a:lnSpc>
            </a:pPr>
            <a:r>
              <a:rPr lang="en-US" sz="1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柜体内部清空擦拭(需配合)</a:t>
            </a:r>
          </a:p>
        </p:txBody>
      </p:sp>
      <p:sp>
        <p:nvSpPr>
          <p:cNvPr id="34" name="AutoShape 34"/>
          <p:cNvSpPr/>
          <p:nvPr/>
        </p:nvSpPr>
        <p:spPr>
          <a:xfrm>
            <a:off x="6223000" y="4699000"/>
            <a:ext cx="2374900" cy="8255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BDEF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350000" y="4762500"/>
            <a:ext cx="2159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😓 自己动手的痛点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350000" y="5054600"/>
            <a:ext cx="2159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9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挪沙发、爬梯子、铲油污、刷霉斑，折腾一整天腰酸背痛，死角还不一定能弄干净。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890000" y="4699000"/>
            <a:ext cx="2374900" cy="8255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BDEF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9017000" y="4762500"/>
            <a:ext cx="2159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🎉 交给喜云的省心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9017000" y="5054600"/>
            <a:ext cx="2159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9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专业工具+标准化流程，挪家具、除霉去油一次性搞定，你该干嘛干嘛，回家焕然一新。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254000" y="5778500"/>
            <a:ext cx="11684000" cy="508000"/>
          </a:xfrm>
          <a:prstGeom prst="roundRect">
            <a:avLst>
              <a:gd name="adj" fmla="val 25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381000" y="5842000"/>
            <a:ext cx="1143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💡 平时爱干净、定期打扫 → 选</a:t>
            </a:r>
            <a:r>
              <a:rPr lang="en-US" sz="1100" b="1" i="0" u="none" strike="noStrike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精细保洁</a:t>
            </a: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(花小钱买回周末自由) | 💡 很久没彻底扫、想翻新 → 选</a:t>
            </a:r>
            <a:r>
              <a:rPr lang="en-US" sz="1100" b="1" i="0" u="none" strike="noStrike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全屋大扫除</a:t>
            </a: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(一次搞定所有死角)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0" y="6426200"/>
            <a:ext cx="1219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spc="100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喜云到家 · 专业保洁服务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08000"/>
            <a:ext cx="12192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油烟机+灶台清洗，拆洗还是不拆洗</a:t>
            </a:r>
            <a:r>
              <a:rPr lang="en-US" sz="2400" b="1" i="0" u="none" strike="noStrike" dirty="0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0" y="1016000"/>
            <a:ext cx="12192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AA55"/>
                </a:solidFill>
                <a:latin typeface="Noto Sans SC"/>
                <a:ea typeface="Noto Sans SC"/>
                <a:cs typeface="Noto Sans SC"/>
                <a:sym typeface="Noto Sans SC"/>
              </a:rPr>
              <a:t>轻度油污选不拆洗，重度油污选拆洗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54000" y="1460500"/>
            <a:ext cx="5588000" cy="4216400"/>
          </a:xfrm>
          <a:prstGeom prst="roundRect">
            <a:avLst>
              <a:gd name="adj" fmla="val 5421"/>
            </a:avLst>
          </a:prstGeom>
          <a:solidFill>
            <a:srgbClr val="EEF5E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4884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44500" y="1587500"/>
            <a:ext cx="5207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🧹 不拆洗｜表面清洁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4500" y="2032000"/>
            <a:ext cx="5207000" cy="1130300"/>
          </a:xfrm>
          <a:prstGeom prst="roundRect">
            <a:avLst>
              <a:gd name="adj" fmla="val 1011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95300" y="2216150"/>
            <a:ext cx="1651000" cy="8382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油烟机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800" b="1" i="0" u="none" strike="noStrike" dirty="0">
                <a:solidFill>
                  <a:srgbClr val="FF8800"/>
                </a:solidFill>
                <a:latin typeface="Noto Sans SC"/>
                <a:ea typeface="Noto Sans SC"/>
                <a:cs typeface="Noto Sans SC"/>
                <a:sym typeface="Noto Sans SC"/>
              </a:rPr>
              <a:t>¥88/台</a:t>
            </a:r>
          </a:p>
        </p:txBody>
      </p:sp>
      <p:sp>
        <p:nvSpPr>
          <p:cNvPr id="8" name="AutoShape 8"/>
          <p:cNvSpPr/>
          <p:nvPr/>
        </p:nvSpPr>
        <p:spPr>
          <a:xfrm>
            <a:off x="2222500" y="2216150"/>
            <a:ext cx="1651000" cy="8382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灶台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800" b="1" i="0" u="none" strike="noStrike" dirty="0">
                <a:solidFill>
                  <a:srgbClr val="FF8800"/>
                </a:solidFill>
                <a:latin typeface="Noto Sans SC"/>
                <a:ea typeface="Noto Sans SC"/>
                <a:cs typeface="Noto Sans SC"/>
                <a:sym typeface="Noto Sans SC"/>
              </a:rPr>
              <a:t>¥</a:t>
            </a:r>
            <a:r>
              <a:rPr lang="en-US" b="1" dirty="0">
                <a:solidFill>
                  <a:srgbClr val="FF8800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r>
              <a:rPr lang="en-US" sz="1800" b="1" i="0" u="none" strike="noStrike" dirty="0">
                <a:solidFill>
                  <a:srgbClr val="FF8800"/>
                </a:solidFill>
                <a:latin typeface="Noto Sans SC"/>
                <a:ea typeface="Noto Sans SC"/>
                <a:cs typeface="Noto Sans SC"/>
                <a:sym typeface="Noto Sans SC"/>
              </a:rPr>
              <a:t>8/台</a:t>
            </a:r>
          </a:p>
        </p:txBody>
      </p:sp>
      <p:sp>
        <p:nvSpPr>
          <p:cNvPr id="9" name="AutoShape 9"/>
          <p:cNvSpPr/>
          <p:nvPr/>
        </p:nvSpPr>
        <p:spPr>
          <a:xfrm>
            <a:off x="3937000" y="2216150"/>
            <a:ext cx="1651000" cy="838200"/>
          </a:xfrm>
          <a:prstGeom prst="roundRect">
            <a:avLst>
              <a:gd name="adj" fmla="val 0"/>
            </a:avLst>
          </a:prstGeom>
          <a:solidFill>
            <a:srgbClr val="FFF3E0">
              <a:alpha val="100000"/>
            </a:srgbClr>
          </a:solidFill>
          <a:ln w="12700" cap="flat" cmpd="sng">
            <a:solidFill>
              <a:srgbClr val="FFAA55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油烟机+灶台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2000" b="1" i="0" u="none" strike="noStrike" dirty="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¥128 起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81000" y="3302000"/>
            <a:ext cx="2451100" cy="11684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08000" y="3365500"/>
            <a:ext cx="228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📋 核心服务内容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08000" y="3683000"/>
            <a:ext cx="228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25400" rIns="25400" bIns="254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  <a:r>
              <a:rPr lang="en-US" sz="9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快速去除油烟机表面及滤网油污，无需拆机</a:t>
            </a:r>
            <a:r>
              <a:rPr lang="en-US" sz="9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9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  <a:r>
              <a:rPr lang="en-US" sz="9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彻底擦拭灶台台面及面板，处理轻度油污</a:t>
            </a:r>
            <a:r>
              <a:rPr lang="en-US" sz="9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048000" y="3302000"/>
            <a:ext cx="2425700" cy="1143000"/>
          </a:xfrm>
          <a:prstGeom prst="roundRect">
            <a:avLst>
              <a:gd name="adj" fmla="val 7777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3175000" y="3365500"/>
            <a:ext cx="228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🎯 适用场景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175000" y="3683000"/>
            <a:ext cx="228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25400" rIns="25400" bIns="254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9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厨房只有轻度油污，无需大动干戈</a:t>
            </a:r>
            <a:br>
              <a:rPr lang="en-US" sz="9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9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仅需日常维护，保持基本清洁状态</a:t>
            </a:r>
            <a:br>
              <a:rPr lang="en-US" sz="9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9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担心拆机损坏，倾向简单快速服务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368300" y="4635500"/>
            <a:ext cx="2425700" cy="889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95300" y="4699000"/>
            <a:ext cx="228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😓 自己动手痛点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95300" y="4978400"/>
            <a:ext cx="2222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0" rIns="254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自己动手清洗麻烦又低效，不仅累，还容易清洁不彻底，浪费周末时间。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984500" y="4699000"/>
            <a:ext cx="2476500" cy="8255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3111500" y="4762500"/>
            <a:ext cx="228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🎉 交给喜云爽点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111500" y="5041900"/>
            <a:ext cx="22225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0" rIns="254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专业人员上门，快速搞定表面油污，省时省力，让您轻松享受洁净厨房。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096000" y="1460500"/>
            <a:ext cx="5588000" cy="4216400"/>
          </a:xfrm>
          <a:prstGeom prst="roundRect">
            <a:avLst>
              <a:gd name="adj" fmla="val 5421"/>
            </a:avLst>
          </a:prstGeom>
          <a:solidFill>
            <a:srgbClr val="EBF5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FFAA55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286500" y="1587500"/>
            <a:ext cx="5207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67800"/>
                </a:solidFill>
                <a:latin typeface="Noto Sans SC"/>
                <a:ea typeface="Noto Sans SC"/>
                <a:cs typeface="Noto Sans SC"/>
                <a:sym typeface="Noto Sans SC"/>
              </a:rPr>
              <a:t>✨ 拆洗｜深度清洁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86500" y="2032000"/>
            <a:ext cx="5207000" cy="1130300"/>
          </a:xfrm>
          <a:prstGeom prst="roundRect">
            <a:avLst>
              <a:gd name="adj" fmla="val 1011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337300" y="2216150"/>
            <a:ext cx="1651000" cy="8382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油烟机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800" b="1" i="0" u="none" strike="noStrike" dirty="0">
                <a:solidFill>
                  <a:srgbClr val="FF8800"/>
                </a:solidFill>
                <a:latin typeface="Noto Sans SC"/>
                <a:ea typeface="Noto Sans SC"/>
                <a:cs typeface="Noto Sans SC"/>
                <a:sym typeface="Noto Sans SC"/>
              </a:rPr>
              <a:t>¥178/台</a:t>
            </a:r>
          </a:p>
        </p:txBody>
      </p:sp>
      <p:sp>
        <p:nvSpPr>
          <p:cNvPr id="26" name="AutoShape 26"/>
          <p:cNvSpPr/>
          <p:nvPr/>
        </p:nvSpPr>
        <p:spPr>
          <a:xfrm>
            <a:off x="8064500" y="2216150"/>
            <a:ext cx="1651000" cy="8382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灶台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800" b="1" i="0" u="none" strike="noStrike" dirty="0">
                <a:solidFill>
                  <a:srgbClr val="FF8800"/>
                </a:solidFill>
                <a:latin typeface="Noto Sans SC"/>
                <a:ea typeface="Noto Sans SC"/>
                <a:cs typeface="Noto Sans SC"/>
                <a:sym typeface="Noto Sans SC"/>
              </a:rPr>
              <a:t>¥8</a:t>
            </a:r>
            <a:r>
              <a:rPr lang="en-US" b="1" dirty="0">
                <a:solidFill>
                  <a:srgbClr val="FF8800"/>
                </a:solidFill>
                <a:latin typeface="Noto Sans SC"/>
                <a:ea typeface="Noto Sans SC"/>
                <a:cs typeface="Noto Sans SC"/>
                <a:sym typeface="Noto Sans SC"/>
              </a:rPr>
              <a:t>8</a:t>
            </a:r>
            <a:r>
              <a:rPr lang="en-US" sz="1800" b="1" i="0" u="none" strike="noStrike" dirty="0">
                <a:solidFill>
                  <a:srgbClr val="FF8800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800" b="1" i="0" u="none" strike="noStrike" dirty="0">
                <a:solidFill>
                  <a:srgbClr val="FF8800"/>
                </a:solidFill>
                <a:latin typeface="Noto Sans SC"/>
                <a:ea typeface="Noto Sans SC"/>
                <a:cs typeface="Noto Sans SC"/>
                <a:sym typeface="Noto Sans SC"/>
              </a:rPr>
              <a:t>台</a:t>
            </a:r>
            <a:endParaRPr lang="en-US" sz="1800" b="1" i="0" u="none" strike="noStrike" dirty="0">
              <a:solidFill>
                <a:srgbClr val="FF88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9779000" y="2216150"/>
            <a:ext cx="1651000" cy="838200"/>
          </a:xfrm>
          <a:prstGeom prst="roundRect">
            <a:avLst>
              <a:gd name="adj" fmla="val 0"/>
            </a:avLst>
          </a:prstGeom>
          <a:solidFill>
            <a:srgbClr val="FFF3E0">
              <a:alpha val="100000"/>
            </a:srgbClr>
          </a:solidFill>
          <a:ln w="12700" cap="flat" cmpd="sng">
            <a:solidFill>
              <a:srgbClr val="FFAA55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油烟机+灶台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2000" b="1" i="0" u="none" strike="noStrike" dirty="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¥228 </a:t>
            </a:r>
            <a:r>
              <a:rPr lang="en-US" sz="2000" b="1" dirty="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2000" b="1" dirty="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套</a:t>
            </a:r>
            <a:endParaRPr lang="en-US" sz="2000" b="1" i="0" u="none" strike="noStrike" dirty="0">
              <a:solidFill>
                <a:srgbClr val="E651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223000" y="3302000"/>
            <a:ext cx="2451100" cy="11684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BDEF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350000" y="3365500"/>
            <a:ext cx="228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✨ 核心服务内容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350000" y="3683000"/>
            <a:ext cx="228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25400" rIns="25400" bIns="254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✅ </a:t>
            </a:r>
            <a:r>
              <a:rPr lang="en-US" sz="9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整机拆解，彻底清洗风轮与蜗壳，去除内部陈年油垢，恢复排风效率</a:t>
            </a:r>
            <a:r>
              <a:rPr lang="en-US" sz="9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31" name="AutoShape 31"/>
          <p:cNvSpPr/>
          <p:nvPr/>
        </p:nvSpPr>
        <p:spPr>
          <a:xfrm>
            <a:off x="8890000" y="3302000"/>
            <a:ext cx="2425700" cy="1143000"/>
          </a:xfrm>
          <a:prstGeom prst="roundRect">
            <a:avLst>
              <a:gd name="adj" fmla="val 7777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9017000" y="3365500"/>
            <a:ext cx="228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67800"/>
                </a:solidFill>
                <a:latin typeface="Noto Sans SC"/>
                <a:ea typeface="Noto Sans SC"/>
                <a:cs typeface="Noto Sans SC"/>
                <a:sym typeface="Noto Sans SC"/>
              </a:rPr>
              <a:t>🎯 适用场景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017000" y="3683000"/>
            <a:ext cx="228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25400" rIns="25400" bIns="254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厨房长期未清洗，油污堆积严重</a:t>
            </a:r>
            <a:b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油烟机内部积垢，需要彻底清理</a:t>
            </a:r>
            <a:b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9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希望消除顽固异味，恢复厨房本色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223000" y="4635500"/>
            <a:ext cx="2425700" cy="889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BDEF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350000" y="4699000"/>
            <a:ext cx="228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😓 自己动手痛点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350000" y="4978400"/>
            <a:ext cx="22225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0" rIns="254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油污厚重难清理，内部结构复杂易拆坏，耗费大量精力也洗不干净。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890000" y="4699000"/>
            <a:ext cx="2476500" cy="8255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BDEF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9017000" y="4762500"/>
            <a:ext cx="228600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976D2"/>
                </a:solidFill>
                <a:latin typeface="Noto Sans SC"/>
                <a:ea typeface="Noto Sans SC"/>
                <a:cs typeface="Noto Sans SC"/>
                <a:sym typeface="Noto Sans SC"/>
              </a:rPr>
              <a:t>🎉 交给喜云爽点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9017000" y="5041900"/>
            <a:ext cx="22225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25400" tIns="0" rIns="254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专业深度拆洗，彻底清除陈年油垢，让油烟机和灶台焕然一新，全程无忧。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254000" y="5778500"/>
            <a:ext cx="11684000" cy="508000"/>
          </a:xfrm>
          <a:prstGeom prst="roundRect">
            <a:avLst>
              <a:gd name="adj" fmla="val 25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381000" y="5842000"/>
            <a:ext cx="1143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💡 轻度油污、日常维护 → 选</a:t>
            </a:r>
            <a:r>
              <a:rPr lang="en-US" sz="1100" b="1" i="0" u="none" strike="noStrike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【不拆洗】表面清洁</a:t>
            </a:r>
            <a:r>
              <a:rPr lang="en-US" sz="11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|</a:t>
            </a: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💡 重度油污、长期未洗 → 选</a:t>
            </a:r>
            <a:r>
              <a:rPr lang="en-US" sz="1100" b="1" i="0" u="none" strike="noStrike">
                <a:solidFill>
                  <a:srgbClr val="E67800"/>
                </a:solidFill>
                <a:latin typeface="Noto Sans SC"/>
                <a:ea typeface="Noto Sans SC"/>
                <a:cs typeface="Noto Sans SC"/>
                <a:sym typeface="Noto Sans SC"/>
              </a:rPr>
              <a:t>【拆洗】深度清洁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0" y="6426200"/>
            <a:ext cx="1219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spc="100">
                <a:solidFill>
                  <a:srgbClr val="448844"/>
                </a:solidFill>
                <a:latin typeface="Noto Sans SC"/>
                <a:ea typeface="Noto Sans SC"/>
                <a:cs typeface="Noto Sans SC"/>
                <a:sym typeface="Noto Sans SC"/>
              </a:rPr>
              <a:t>喜云到家 · 专业清洗 · 洁净无忧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508000" y="1270000"/>
            <a:ext cx="5334000" cy="4953000"/>
          </a:xfrm>
          <a:prstGeom prst="roundRect">
            <a:avLst>
              <a:gd name="adj" fmla="val 4102"/>
            </a:avLst>
          </a:prstGeom>
          <a:solidFill>
            <a:srgbClr val="008800">
              <a:alpha val="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711200" cy="711200"/>
          </a:xfrm>
          <a:prstGeom prst="ellipse">
            <a:avLst/>
          </a:prstGeom>
          <a:solidFill>
            <a:srgbClr val="0088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800" y="17018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6256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8800"/>
                </a:solidFill>
                <a:latin typeface="Noto Sans SC"/>
                <a:ea typeface="Noto Sans SC"/>
                <a:cs typeface="Noto Sans SC"/>
                <a:sym typeface="Noto Sans SC"/>
              </a:rPr>
              <a:t>居家养老陪护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413000"/>
            <a:ext cx="4826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5400000" algn="tl" rotWithShape="0">
              <a:srgbClr val="0088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2603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8800"/>
                </a:solidFill>
                <a:latin typeface="Noto Sans SC"/>
                <a:ea typeface="Noto Sans SC"/>
                <a:cs typeface="Noto Sans SC"/>
                <a:sym typeface="Noto Sans SC"/>
              </a:rPr>
              <a:t>▌ 核心服务内容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048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涵盖日常起居照料、定期健康监测、个性化定制饮食，并提供24H全天候安全看护，全方位保障长者的舒适生活。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064000"/>
            <a:ext cx="4826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5400000" algn="tl" rotWithShape="0">
              <a:srgbClr val="0088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4254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8800"/>
                </a:solidFill>
                <a:latin typeface="Noto Sans SC"/>
                <a:ea typeface="Noto Sans SC"/>
                <a:cs typeface="Noto Sans SC"/>
                <a:sym typeface="Noto Sans SC"/>
              </a:rPr>
              <a:t>▌ 服务核心特色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699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建立长者专属健康日志，每日数据自动同步至子女移动端，实现远程实时查看与互动，让子女在外也能倍感安心。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1270000"/>
            <a:ext cx="5334000" cy="4953000"/>
          </a:xfrm>
          <a:prstGeom prst="roundRect">
            <a:avLst>
              <a:gd name="adj" fmla="val 4102"/>
            </a:avLst>
          </a:prstGeom>
          <a:solidFill>
            <a:srgbClr val="FF9955">
              <a:alpha val="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604000" y="1524000"/>
            <a:ext cx="711200" cy="711200"/>
          </a:xfrm>
          <a:prstGeom prst="ellipse">
            <a:avLst/>
          </a:prstGeom>
          <a:solidFill>
            <a:srgbClr val="FF99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81800" y="17018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493000" y="16256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9955"/>
                </a:solidFill>
                <a:latin typeface="Noto Sans SC"/>
                <a:ea typeface="Noto Sans SC"/>
                <a:cs typeface="Noto Sans SC"/>
                <a:sym typeface="Noto Sans SC"/>
              </a:rPr>
              <a:t>病患/康复陪护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2413000"/>
            <a:ext cx="4826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5400000" algn="tl" rotWithShape="0">
              <a:srgbClr val="FF9955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858000" y="2603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9955"/>
                </a:solidFill>
                <a:latin typeface="Noto Sans SC"/>
                <a:ea typeface="Noto Sans SC"/>
                <a:cs typeface="Noto Sans SC"/>
                <a:sym typeface="Noto Sans SC"/>
              </a:rPr>
              <a:t>▌ 专业护理方案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858000" y="3048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提供基础生活护理、实时病情观察记录、医嘱执行辅助、科学营养膳食搭配，以及专业的心理疏导与康复指导。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4064000"/>
            <a:ext cx="4826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5400000" algn="tl" rotWithShape="0">
              <a:srgbClr val="FF9955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858000" y="4254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9955"/>
                </a:solidFill>
                <a:latin typeface="Noto Sans SC"/>
                <a:ea typeface="Noto Sans SC"/>
                <a:cs typeface="Noto Sans SC"/>
                <a:sym typeface="Noto Sans SC"/>
              </a:rPr>
              <a:t>▌ 覆盖适用场景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858000" y="4699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广泛适用于术后康复期专业照护、慢性病患者长期居家管理、以及住院期间的一对一全程陪护照料等多种场景。</a:t>
            </a:r>
            <a:endParaRPr lang="en-US" sz="1100"/>
          </a:p>
        </p:txBody>
      </p:sp>
      <p:sp>
        <p:nvSpPr>
          <p:cNvPr id="23" name="AutoShape 2">
            <a:extLst>
              <a:ext uri="{FF2B5EF4-FFF2-40B4-BE49-F238E27FC236}">
                <a16:creationId xmlns:a16="http://schemas.microsoft.com/office/drawing/2014/main" id="{841F473B-0E35-0E6B-4D1F-5E04D4CDD7FB}"/>
              </a:ext>
            </a:extLst>
          </p:cNvPr>
          <p:cNvSpPr/>
          <p:nvPr/>
        </p:nvSpPr>
        <p:spPr>
          <a:xfrm>
            <a:off x="360000" y="180000"/>
            <a:ext cx="7200000" cy="7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500" b="0" i="0" u="none" strike="noStrike" dirty="0">
                <a:solidFill>
                  <a:srgbClr val="EE8800"/>
                </a:solidFill>
                <a:latin typeface="思源宋体 VF Heavy" panose="02020200000000000000" pitchFamily="18" charset="-122"/>
                <a:ea typeface="思源宋体 VF Heavy" panose="02020200000000000000" pitchFamily="18" charset="-122"/>
                <a:cs typeface="Noto Sans SC"/>
                <a:sym typeface="Noto Sans SC"/>
              </a:rPr>
              <a:t>2.2.2 </a:t>
            </a:r>
            <a:r>
              <a:rPr lang="en-US" sz="2500" b="0" i="0" u="none" strike="noStrike" dirty="0" err="1">
                <a:solidFill>
                  <a:srgbClr val="EE8800"/>
                </a:solidFill>
                <a:latin typeface="思源宋体 VF Heavy" panose="02020200000000000000" pitchFamily="18" charset="-122"/>
                <a:ea typeface="思源宋体 VF Heavy" panose="02020200000000000000" pitchFamily="18" charset="-122"/>
                <a:cs typeface="Noto Sans SC"/>
                <a:sym typeface="Noto Sans SC"/>
              </a:rPr>
              <a:t>照料陪护类</a:t>
            </a:r>
            <a:r>
              <a:rPr lang="en-US" sz="2500" b="0" i="0" u="none" strike="noStrike" dirty="0" err="1">
                <a:solidFill>
                  <a:srgbClr val="1F2937"/>
                </a:solidFill>
                <a:latin typeface="思源宋体 VF Heavy" panose="02020200000000000000" pitchFamily="18" charset="-122"/>
                <a:ea typeface="思源宋体 VF Heavy" panose="02020200000000000000" pitchFamily="18" charset="-122"/>
                <a:cs typeface="Noto Sans SC"/>
                <a:sym typeface="Noto Sans SC"/>
              </a:rPr>
              <a:t>｜居家养老</a:t>
            </a:r>
            <a:r>
              <a:rPr lang="en-US" sz="2500" b="0" i="0" u="none" strike="noStrike" dirty="0">
                <a:solidFill>
                  <a:srgbClr val="1F2937"/>
                </a:solidFill>
                <a:latin typeface="思源宋体 VF Heavy" panose="02020200000000000000" pitchFamily="18" charset="-122"/>
                <a:ea typeface="思源宋体 VF Heavy" panose="02020200000000000000" pitchFamily="18" charset="-122"/>
                <a:cs typeface="Noto Sans SC"/>
                <a:sym typeface="Noto Sans SC"/>
              </a:rPr>
              <a:t> &amp; </a:t>
            </a:r>
            <a:r>
              <a:rPr lang="en-US" sz="2500" b="0" i="0" u="none" strike="noStrike" dirty="0" err="1">
                <a:solidFill>
                  <a:srgbClr val="1F2937"/>
                </a:solidFill>
                <a:latin typeface="思源宋体 VF Heavy" panose="02020200000000000000" pitchFamily="18" charset="-122"/>
                <a:ea typeface="思源宋体 VF Heavy" panose="02020200000000000000" pitchFamily="18" charset="-122"/>
                <a:cs typeface="Noto Sans SC"/>
                <a:sym typeface="Noto Sans SC"/>
              </a:rPr>
              <a:t>病患康复</a:t>
            </a:r>
            <a:endParaRPr lang="en-US" sz="2500" dirty="0">
              <a:latin typeface="思源宋体 VF Heavy" panose="02020200000000000000" pitchFamily="18" charset="-122"/>
              <a:ea typeface="思源宋体 VF Heavy" panose="02020200000000000000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508000" y="1397000"/>
            <a:ext cx="5461000" cy="4826000"/>
          </a:xfrm>
          <a:prstGeom prst="roundRect">
            <a:avLst>
              <a:gd name="adj" fmla="val 4210"/>
            </a:avLst>
          </a:prstGeom>
          <a:solidFill>
            <a:srgbClr val="008800">
              <a:alpha val="6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500" y="1651000"/>
            <a:ext cx="457200" cy="4572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651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8800"/>
                </a:solidFill>
                <a:latin typeface="Noto Sans SC"/>
                <a:ea typeface="Noto Sans SC"/>
                <a:cs typeface="Noto Sans SC"/>
                <a:sym typeface="Noto Sans SC"/>
              </a:rPr>
              <a:t>保姆服务</a:t>
            </a:r>
            <a:r>
              <a:rPr lang="en-US" sz="1400" b="0" i="0" u="none" strike="noStrike">
                <a:solidFill>
                  <a:srgbClr val="00880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NANNY SERVICE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4953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603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8800"/>
                </a:solidFill>
                <a:latin typeface="Noto Sans SC"/>
                <a:ea typeface="Noto Sans SC"/>
                <a:cs typeface="Noto Sans SC"/>
                <a:sym typeface="Noto Sans SC"/>
              </a:rPr>
              <a:t>▍ 服务类型 / SERVICE TYPE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提供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住家保姆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白班保姆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及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专职做饭阿姨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三种核心模式，满足不同家庭的居住与时间需求。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810000"/>
            <a:ext cx="4953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4000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8800"/>
                </a:solidFill>
                <a:latin typeface="Noto Sans SC"/>
                <a:ea typeface="Noto Sans SC"/>
                <a:cs typeface="Noto Sans SC"/>
                <a:sym typeface="Noto Sans SC"/>
              </a:rPr>
              <a:t>▍ 全维服务 / COMPREHENSIVE CARE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445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4450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日常保洁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67000" y="4445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111500" y="44450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衣物洗护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91000" y="4445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635500" y="4445000"/>
            <a:ext cx="88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三餐烹饪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953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460500" y="49530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收纳整理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67000" y="4953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3111500" y="49530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老人/儿童照护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1397000"/>
            <a:ext cx="5461000" cy="4826000"/>
          </a:xfrm>
          <a:prstGeom prst="roundRect">
            <a:avLst>
              <a:gd name="adj" fmla="val 4210"/>
            </a:avLst>
          </a:prstGeom>
          <a:solidFill>
            <a:srgbClr val="FF9955">
              <a:alpha val="6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1651000"/>
            <a:ext cx="457200" cy="457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12000" y="1651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9955"/>
                </a:solidFill>
                <a:latin typeface="Noto Sans SC"/>
                <a:ea typeface="Noto Sans SC"/>
                <a:cs typeface="Noto Sans SC"/>
                <a:sym typeface="Noto Sans SC"/>
              </a:rPr>
              <a:t>钟点工服务</a:t>
            </a:r>
            <a:r>
              <a:rPr lang="en-US" sz="1400" b="0" i="0" u="none" strike="noStrike">
                <a:solidFill>
                  <a:srgbClr val="FF9955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HOURLY SERVICE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2413000"/>
            <a:ext cx="4953000" cy="13335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731000" y="2603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9955"/>
                </a:solidFill>
                <a:latin typeface="Noto Sans SC"/>
                <a:ea typeface="Noto Sans SC"/>
                <a:cs typeface="Noto Sans SC"/>
                <a:sym typeface="Noto Sans SC"/>
              </a:rPr>
              <a:t>▍ 定制服务 / CUSTOMIZED PLAN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731000" y="3048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针对临时保洁、家庭做饭、深度收纳、宠物喂养等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专项需求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，提供“一次一结”的灵活上门服务。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77000" y="3937000"/>
            <a:ext cx="4953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731000" y="4127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9955"/>
                </a:solidFill>
                <a:latin typeface="Noto Sans SC"/>
                <a:ea typeface="Noto Sans SC"/>
                <a:cs typeface="Noto Sans SC"/>
                <a:sym typeface="Noto Sans SC"/>
              </a:rPr>
              <a:t>▍ 核心优势 / CORE ADVANTAGES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731000" y="4572000"/>
            <a:ext cx="1460500" cy="889000"/>
          </a:xfrm>
          <a:prstGeom prst="roundRect">
            <a:avLst>
              <a:gd name="adj" fmla="val 11428"/>
            </a:avLst>
          </a:prstGeom>
          <a:solidFill>
            <a:srgbClr val="FF995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58000" y="46990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239000" y="4699000"/>
            <a:ext cx="88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透明计费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858000" y="5080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按时长计价无隐形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255000" y="4572000"/>
            <a:ext cx="1460500" cy="889000"/>
          </a:xfrm>
          <a:prstGeom prst="roundRect">
            <a:avLst>
              <a:gd name="adj" fmla="val 11428"/>
            </a:avLst>
          </a:prstGeom>
          <a:solidFill>
            <a:srgbClr val="FF995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82000" y="4699000"/>
            <a:ext cx="304800" cy="3048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8763000" y="4699000"/>
            <a:ext cx="88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灵活响应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382000" y="5080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30分钟快速匹配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779000" y="4572000"/>
            <a:ext cx="1460500" cy="889000"/>
          </a:xfrm>
          <a:prstGeom prst="roundRect">
            <a:avLst>
              <a:gd name="adj" fmla="val 11428"/>
            </a:avLst>
          </a:prstGeom>
          <a:solidFill>
            <a:srgbClr val="FF995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06000" y="4699000"/>
            <a:ext cx="304800" cy="3048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10287000" y="4699000"/>
            <a:ext cx="88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高性价比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9906000" y="5080000"/>
            <a:ext cx="127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按需选择成本可控</a:t>
            </a:r>
            <a:endParaRPr lang="en-US" sz="1100"/>
          </a:p>
        </p:txBody>
      </p:sp>
      <p:sp>
        <p:nvSpPr>
          <p:cNvPr id="41" name="AutoShape 2">
            <a:extLst>
              <a:ext uri="{FF2B5EF4-FFF2-40B4-BE49-F238E27FC236}">
                <a16:creationId xmlns:a16="http://schemas.microsoft.com/office/drawing/2014/main" id="{664158B7-8066-B945-4160-25D40C06327F}"/>
              </a:ext>
            </a:extLst>
          </p:cNvPr>
          <p:cNvSpPr/>
          <p:nvPr/>
        </p:nvSpPr>
        <p:spPr>
          <a:xfrm>
            <a:off x="360000" y="180000"/>
            <a:ext cx="7200000" cy="72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500" b="0" i="0" u="none" strike="noStrike">
                <a:solidFill>
                  <a:srgbClr val="EE8800"/>
                </a:solidFill>
                <a:latin typeface="思源宋体 VF Heavy" panose="02020200000000000000" pitchFamily="18" charset="-122"/>
                <a:ea typeface="思源宋体 VF Heavy" panose="02020200000000000000" pitchFamily="18" charset="-122"/>
                <a:cs typeface="Noto Sans SC"/>
                <a:sym typeface="Noto Sans SC"/>
              </a:rPr>
              <a:t>2.2.3 </a:t>
            </a:r>
            <a:r>
              <a:rPr lang="zh-CN" altLang="en-US" sz="2500" b="0" i="0" u="none" strike="noStrike">
                <a:solidFill>
                  <a:srgbClr val="EE8800"/>
                </a:solidFill>
                <a:latin typeface="思源宋体 VF Heavy" panose="02020200000000000000" pitchFamily="18" charset="-122"/>
                <a:ea typeface="思源宋体 VF Heavy" panose="02020200000000000000" pitchFamily="18" charset="-122"/>
                <a:cs typeface="Noto Sans SC"/>
                <a:sym typeface="Noto Sans SC"/>
              </a:rPr>
              <a:t>家庭</a:t>
            </a:r>
            <a:r>
              <a:rPr lang="zh-CN" altLang="en-US" sz="2500" b="0" i="0" u="none" strike="noStrike" dirty="0">
                <a:solidFill>
                  <a:srgbClr val="EE8800"/>
                </a:solidFill>
                <a:latin typeface="思源宋体 VF Heavy" panose="02020200000000000000" pitchFamily="18" charset="-122"/>
                <a:ea typeface="思源宋体 VF Heavy" panose="02020200000000000000" pitchFamily="18" charset="-122"/>
                <a:cs typeface="Noto Sans SC"/>
                <a:sym typeface="Noto Sans SC"/>
              </a:rPr>
              <a:t>事务类</a:t>
            </a:r>
            <a:r>
              <a:rPr lang="en-US" sz="2500" b="0" i="0" u="none" strike="noStrike">
                <a:solidFill>
                  <a:srgbClr val="1F2937"/>
                </a:solidFill>
                <a:latin typeface="思源宋体 VF Heavy" panose="02020200000000000000" pitchFamily="18" charset="-122"/>
                <a:ea typeface="思源宋体 VF Heavy" panose="02020200000000000000" pitchFamily="18" charset="-122"/>
                <a:cs typeface="Noto Sans SC"/>
                <a:sym typeface="Noto Sans SC"/>
              </a:rPr>
              <a:t>｜</a:t>
            </a:r>
            <a:r>
              <a:rPr lang="zh-CN" altLang="en-US" sz="2500" b="0" i="0" u="none" strike="noStrike">
                <a:solidFill>
                  <a:srgbClr val="1F2937"/>
                </a:solidFill>
                <a:latin typeface="思源宋体 VF Heavy" panose="02020200000000000000" pitchFamily="18" charset="-122"/>
                <a:ea typeface="思源宋体 VF Heavy" panose="02020200000000000000" pitchFamily="18" charset="-122"/>
                <a:cs typeface="Noto Sans SC"/>
                <a:sym typeface="Noto Sans SC"/>
              </a:rPr>
              <a:t>保姆</a:t>
            </a:r>
            <a:r>
              <a:rPr lang="zh-CN" altLang="en-US" sz="2500" b="0" i="0" u="none" strike="noStrike" dirty="0">
                <a:solidFill>
                  <a:srgbClr val="1F2937"/>
                </a:solidFill>
                <a:latin typeface="思源宋体 VF Heavy" panose="02020200000000000000" pitchFamily="18" charset="-122"/>
                <a:ea typeface="思源宋体 VF Heavy" panose="02020200000000000000" pitchFamily="18" charset="-122"/>
                <a:cs typeface="Noto Sans SC"/>
                <a:sym typeface="Noto Sans SC"/>
              </a:rPr>
              <a:t>服务</a:t>
            </a:r>
            <a:r>
              <a:rPr lang="en-US" altLang="zh-CN" sz="2500" b="0" i="0" u="none" strike="noStrike">
                <a:solidFill>
                  <a:srgbClr val="1F2937"/>
                </a:solidFill>
                <a:latin typeface="思源宋体 VF Heavy" panose="02020200000000000000" pitchFamily="18" charset="-122"/>
                <a:ea typeface="思源宋体 VF Heavy" panose="02020200000000000000" pitchFamily="18" charset="-122"/>
                <a:cs typeface="Noto Sans SC"/>
                <a:sym typeface="Noto Sans SC"/>
              </a:rPr>
              <a:t>&amp;</a:t>
            </a:r>
            <a:r>
              <a:rPr lang="zh-CN" altLang="en-US" sz="2500">
                <a:solidFill>
                  <a:srgbClr val="1F2937"/>
                </a:solidFill>
                <a:latin typeface="思源宋体 VF Heavy" panose="02020200000000000000" pitchFamily="18" charset="-122"/>
                <a:ea typeface="思源宋体 VF Heavy" panose="02020200000000000000" pitchFamily="18" charset="-122"/>
                <a:cs typeface="Noto Sans SC"/>
                <a:sym typeface="Noto Sans SC"/>
              </a:rPr>
              <a:t>钟点工</a:t>
            </a:r>
            <a:r>
              <a:rPr lang="zh-CN" altLang="en-US" sz="2500" dirty="0">
                <a:solidFill>
                  <a:srgbClr val="1F2937"/>
                </a:solidFill>
                <a:latin typeface="思源宋体 VF Heavy" panose="02020200000000000000" pitchFamily="18" charset="-122"/>
                <a:ea typeface="思源宋体 VF Heavy" panose="02020200000000000000" pitchFamily="18" charset="-122"/>
                <a:cs typeface="Noto Sans SC"/>
                <a:sym typeface="Noto Sans SC"/>
              </a:rPr>
              <a:t>服务</a:t>
            </a:r>
            <a:endParaRPr lang="en-US" sz="2500" dirty="0">
              <a:latin typeface="思源宋体 VF Heavy" panose="02020200000000000000" pitchFamily="18" charset="-122"/>
              <a:ea typeface="思源宋体 VF Heavy" panose="02020200000000000000" pitchFamily="18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1393</Words>
  <Application>Microsoft Office PowerPoint</Application>
  <PresentationFormat>宽屏</PresentationFormat>
  <Paragraphs>251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Noto Sans SC</vt:lpstr>
      <vt:lpstr>Songti SC</vt:lpstr>
      <vt:lpstr>等线</vt:lpstr>
      <vt:lpstr>等线 Light</vt:lpstr>
      <vt:lpstr>思源宋体 VF Heavy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培志 赵</dc:creator>
  <cp:lastModifiedBy>培志 赵</cp:lastModifiedBy>
  <cp:revision>10</cp:revision>
  <dcterms:created xsi:type="dcterms:W3CDTF">2026-05-01T07:46:30Z</dcterms:created>
  <dcterms:modified xsi:type="dcterms:W3CDTF">2026-06-30T16:03:41Z</dcterms:modified>
</cp:coreProperties>
</file>